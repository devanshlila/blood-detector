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ansh Lila" userId="222479854f6efa59" providerId="LiveId" clId="{804CD420-2043-45B2-9B3E-6FA3A30244B7}"/>
    <pc:docChg chg="custSel modSld">
      <pc:chgData name="Devansh Lila" userId="222479854f6efa59" providerId="LiveId" clId="{804CD420-2043-45B2-9B3E-6FA3A30244B7}" dt="2026-10-18T09:28:32.674" v="15" actId="1076"/>
      <pc:docMkLst>
        <pc:docMk/>
      </pc:docMkLst>
      <pc:sldChg chg="delSp modSp mod">
        <pc:chgData name="Devansh Lila" userId="222479854f6efa59" providerId="LiveId" clId="{804CD420-2043-45B2-9B3E-6FA3A30244B7}" dt="2026-10-18T09:25:03.793" v="1" actId="1076"/>
        <pc:sldMkLst>
          <pc:docMk/>
          <pc:sldMk cId="0" sldId="259"/>
        </pc:sldMkLst>
        <pc:spChg chg="del">
          <ac:chgData name="Devansh Lila" userId="222479854f6efa59" providerId="LiveId" clId="{804CD420-2043-45B2-9B3E-6FA3A30244B7}" dt="2026-10-18T09:24:54.582" v="0" actId="478"/>
          <ac:spMkLst>
            <pc:docMk/>
            <pc:sldMk cId="0" sldId="259"/>
            <ac:spMk id="4" creationId="{00000000-0000-0000-0000-000000000000}"/>
          </ac:spMkLst>
        </pc:spChg>
        <pc:spChg chg="mod">
          <ac:chgData name="Devansh Lila" userId="222479854f6efa59" providerId="LiveId" clId="{804CD420-2043-45B2-9B3E-6FA3A30244B7}" dt="2026-10-18T09:25:03.793" v="1" actId="1076"/>
          <ac:spMkLst>
            <pc:docMk/>
            <pc:sldMk cId="0" sldId="259"/>
            <ac:spMk id="19" creationId="{00000000-0000-0000-0000-000000000000}"/>
          </ac:spMkLst>
        </pc:spChg>
      </pc:sldChg>
      <pc:sldChg chg="modSp mod">
        <pc:chgData name="Devansh Lila" userId="222479854f6efa59" providerId="LiveId" clId="{804CD420-2043-45B2-9B3E-6FA3A30244B7}" dt="2026-10-18T09:25:59.438" v="3" actId="1076"/>
        <pc:sldMkLst>
          <pc:docMk/>
          <pc:sldMk cId="0" sldId="260"/>
        </pc:sldMkLst>
        <pc:spChg chg="mod">
          <ac:chgData name="Devansh Lila" userId="222479854f6efa59" providerId="LiveId" clId="{804CD420-2043-45B2-9B3E-6FA3A30244B7}" dt="2026-10-18T09:25:41.388" v="2" actId="1076"/>
          <ac:spMkLst>
            <pc:docMk/>
            <pc:sldMk cId="0" sldId="260"/>
            <ac:spMk id="8" creationId="{00000000-0000-0000-0000-000000000000}"/>
          </ac:spMkLst>
        </pc:spChg>
        <pc:spChg chg="mod">
          <ac:chgData name="Devansh Lila" userId="222479854f6efa59" providerId="LiveId" clId="{804CD420-2043-45B2-9B3E-6FA3A30244B7}" dt="2026-10-18T09:25:59.438" v="3" actId="1076"/>
          <ac:spMkLst>
            <pc:docMk/>
            <pc:sldMk cId="0" sldId="260"/>
            <ac:spMk id="20" creationId="{00000000-0000-0000-0000-000000000000}"/>
          </ac:spMkLst>
        </pc:spChg>
      </pc:sldChg>
      <pc:sldChg chg="modSp mod">
        <pc:chgData name="Devansh Lila" userId="222479854f6efa59" providerId="LiveId" clId="{804CD420-2043-45B2-9B3E-6FA3A30244B7}" dt="2026-10-18T09:27:21.930" v="10" actId="1076"/>
        <pc:sldMkLst>
          <pc:docMk/>
          <pc:sldMk cId="0" sldId="263"/>
        </pc:sldMkLst>
        <pc:spChg chg="mod">
          <ac:chgData name="Devansh Lila" userId="222479854f6efa59" providerId="LiveId" clId="{804CD420-2043-45B2-9B3E-6FA3A30244B7}" dt="2026-10-18T09:27:21.930" v="10" actId="1076"/>
          <ac:spMkLst>
            <pc:docMk/>
            <pc:sldMk cId="0" sldId="263"/>
            <ac:spMk id="2" creationId="{00000000-0000-0000-0000-000000000000}"/>
          </ac:spMkLst>
        </pc:spChg>
        <pc:spChg chg="mod">
          <ac:chgData name="Devansh Lila" userId="222479854f6efa59" providerId="LiveId" clId="{804CD420-2043-45B2-9B3E-6FA3A30244B7}" dt="2026-10-18T09:26:46.697" v="4" actId="1076"/>
          <ac:spMkLst>
            <pc:docMk/>
            <pc:sldMk cId="0" sldId="263"/>
            <ac:spMk id="3" creationId="{00000000-0000-0000-0000-000000000000}"/>
          </ac:spMkLst>
        </pc:spChg>
        <pc:spChg chg="mod">
          <ac:chgData name="Devansh Lila" userId="222479854f6efa59" providerId="LiveId" clId="{804CD420-2043-45B2-9B3E-6FA3A30244B7}" dt="2026-10-18T09:27:14.472" v="9" actId="1076"/>
          <ac:spMkLst>
            <pc:docMk/>
            <pc:sldMk cId="0" sldId="263"/>
            <ac:spMk id="4" creationId="{00000000-0000-0000-0000-000000000000}"/>
          </ac:spMkLst>
        </pc:spChg>
        <pc:spChg chg="mod">
          <ac:chgData name="Devansh Lila" userId="222479854f6efa59" providerId="LiveId" clId="{804CD420-2043-45B2-9B3E-6FA3A30244B7}" dt="2026-10-18T09:27:01.016" v="6" actId="1076"/>
          <ac:spMkLst>
            <pc:docMk/>
            <pc:sldMk cId="0" sldId="263"/>
            <ac:spMk id="7" creationId="{00000000-0000-0000-0000-000000000000}"/>
          </ac:spMkLst>
        </pc:spChg>
        <pc:spChg chg="mod">
          <ac:chgData name="Devansh Lila" userId="222479854f6efa59" providerId="LiveId" clId="{804CD420-2043-45B2-9B3E-6FA3A30244B7}" dt="2026-10-18T09:26:56.230" v="5" actId="1076"/>
          <ac:spMkLst>
            <pc:docMk/>
            <pc:sldMk cId="0" sldId="263"/>
            <ac:spMk id="8" creationId="{00000000-0000-0000-0000-000000000000}"/>
          </ac:spMkLst>
        </pc:spChg>
        <pc:spChg chg="mod">
          <ac:chgData name="Devansh Lila" userId="222479854f6efa59" providerId="LiveId" clId="{804CD420-2043-45B2-9B3E-6FA3A30244B7}" dt="2026-10-18T09:26:56.230" v="5" actId="1076"/>
          <ac:spMkLst>
            <pc:docMk/>
            <pc:sldMk cId="0" sldId="263"/>
            <ac:spMk id="9" creationId="{00000000-0000-0000-0000-000000000000}"/>
          </ac:spMkLst>
        </pc:spChg>
        <pc:spChg chg="mod">
          <ac:chgData name="Devansh Lila" userId="222479854f6efa59" providerId="LiveId" clId="{804CD420-2043-45B2-9B3E-6FA3A30244B7}" dt="2026-10-18T09:26:56.230" v="5" actId="1076"/>
          <ac:spMkLst>
            <pc:docMk/>
            <pc:sldMk cId="0" sldId="263"/>
            <ac:spMk id="10" creationId="{00000000-0000-0000-0000-000000000000}"/>
          </ac:spMkLst>
        </pc:spChg>
        <pc:spChg chg="mod">
          <ac:chgData name="Devansh Lila" userId="222479854f6efa59" providerId="LiveId" clId="{804CD420-2043-45B2-9B3E-6FA3A30244B7}" dt="2026-10-18T09:27:07.991" v="7" actId="1076"/>
          <ac:spMkLst>
            <pc:docMk/>
            <pc:sldMk cId="0" sldId="263"/>
            <ac:spMk id="12" creationId="{00000000-0000-0000-0000-000000000000}"/>
          </ac:spMkLst>
        </pc:spChg>
        <pc:spChg chg="mod">
          <ac:chgData name="Devansh Lila" userId="222479854f6efa59" providerId="LiveId" clId="{804CD420-2043-45B2-9B3E-6FA3A30244B7}" dt="2026-10-18T09:26:56.230" v="5" actId="1076"/>
          <ac:spMkLst>
            <pc:docMk/>
            <pc:sldMk cId="0" sldId="263"/>
            <ac:spMk id="13" creationId="{00000000-0000-0000-0000-000000000000}"/>
          </ac:spMkLst>
        </pc:spChg>
        <pc:spChg chg="mod">
          <ac:chgData name="Devansh Lila" userId="222479854f6efa59" providerId="LiveId" clId="{804CD420-2043-45B2-9B3E-6FA3A30244B7}" dt="2026-10-18T09:26:56.230" v="5" actId="1076"/>
          <ac:spMkLst>
            <pc:docMk/>
            <pc:sldMk cId="0" sldId="263"/>
            <ac:spMk id="14" creationId="{00000000-0000-0000-0000-000000000000}"/>
          </ac:spMkLst>
        </pc:spChg>
        <pc:spChg chg="mod">
          <ac:chgData name="Devansh Lila" userId="222479854f6efa59" providerId="LiveId" clId="{804CD420-2043-45B2-9B3E-6FA3A30244B7}" dt="2026-10-18T09:26:56.230" v="5" actId="1076"/>
          <ac:spMkLst>
            <pc:docMk/>
            <pc:sldMk cId="0" sldId="263"/>
            <ac:spMk id="15" creationId="{00000000-0000-0000-0000-000000000000}"/>
          </ac:spMkLst>
        </pc:spChg>
        <pc:spChg chg="mod">
          <ac:chgData name="Devansh Lila" userId="222479854f6efa59" providerId="LiveId" clId="{804CD420-2043-45B2-9B3E-6FA3A30244B7}" dt="2026-10-18T09:26:56.230" v="5" actId="1076"/>
          <ac:spMkLst>
            <pc:docMk/>
            <pc:sldMk cId="0" sldId="263"/>
            <ac:spMk id="16" creationId="{00000000-0000-0000-0000-000000000000}"/>
          </ac:spMkLst>
        </pc:spChg>
        <pc:spChg chg="mod">
          <ac:chgData name="Devansh Lila" userId="222479854f6efa59" providerId="LiveId" clId="{804CD420-2043-45B2-9B3E-6FA3A30244B7}" dt="2026-10-18T09:27:10.677" v="8" actId="1076"/>
          <ac:spMkLst>
            <pc:docMk/>
            <pc:sldMk cId="0" sldId="263"/>
            <ac:spMk id="17" creationId="{00000000-0000-0000-0000-000000000000}"/>
          </ac:spMkLst>
        </pc:spChg>
        <pc:spChg chg="mod">
          <ac:chgData name="Devansh Lila" userId="222479854f6efa59" providerId="LiveId" clId="{804CD420-2043-45B2-9B3E-6FA3A30244B7}" dt="2026-10-18T09:26:56.230" v="5" actId="1076"/>
          <ac:spMkLst>
            <pc:docMk/>
            <pc:sldMk cId="0" sldId="263"/>
            <ac:spMk id="18" creationId="{00000000-0000-0000-0000-000000000000}"/>
          </ac:spMkLst>
        </pc:spChg>
        <pc:spChg chg="mod">
          <ac:chgData name="Devansh Lila" userId="222479854f6efa59" providerId="LiveId" clId="{804CD420-2043-45B2-9B3E-6FA3A30244B7}" dt="2026-10-18T09:26:56.230" v="5" actId="1076"/>
          <ac:spMkLst>
            <pc:docMk/>
            <pc:sldMk cId="0" sldId="263"/>
            <ac:spMk id="19" creationId="{00000000-0000-0000-0000-000000000000}"/>
          </ac:spMkLst>
        </pc:spChg>
        <pc:spChg chg="mod">
          <ac:chgData name="Devansh Lila" userId="222479854f6efa59" providerId="LiveId" clId="{804CD420-2043-45B2-9B3E-6FA3A30244B7}" dt="2026-10-18T09:26:56.230" v="5" actId="1076"/>
          <ac:spMkLst>
            <pc:docMk/>
            <pc:sldMk cId="0" sldId="263"/>
            <ac:spMk id="21" creationId="{00000000-0000-0000-0000-000000000000}"/>
          </ac:spMkLst>
        </pc:spChg>
      </pc:sldChg>
      <pc:sldChg chg="modSp mod">
        <pc:chgData name="Devansh Lila" userId="222479854f6efa59" providerId="LiveId" clId="{804CD420-2043-45B2-9B3E-6FA3A30244B7}" dt="2026-10-18T09:28:32.674" v="15" actId="1076"/>
        <pc:sldMkLst>
          <pc:docMk/>
          <pc:sldMk cId="0" sldId="264"/>
        </pc:sldMkLst>
        <pc:spChg chg="mod">
          <ac:chgData name="Devansh Lila" userId="222479854f6efa59" providerId="LiveId" clId="{804CD420-2043-45B2-9B3E-6FA3A30244B7}" dt="2026-10-18T09:28:32.674" v="15" actId="1076"/>
          <ac:spMkLst>
            <pc:docMk/>
            <pc:sldMk cId="0" sldId="264"/>
            <ac:spMk id="4" creationId="{00000000-0000-0000-0000-000000000000}"/>
          </ac:spMkLst>
        </pc:spChg>
        <pc:spChg chg="mod">
          <ac:chgData name="Devansh Lila" userId="222479854f6efa59" providerId="LiveId" clId="{804CD420-2043-45B2-9B3E-6FA3A30244B7}" dt="2026-10-18T09:28:26.952" v="14" actId="1076"/>
          <ac:spMkLst>
            <pc:docMk/>
            <pc:sldMk cId="0" sldId="264"/>
            <ac:spMk id="7" creationId="{00000000-0000-0000-0000-000000000000}"/>
          </ac:spMkLst>
        </pc:spChg>
        <pc:spChg chg="mod">
          <ac:chgData name="Devansh Lila" userId="222479854f6efa59" providerId="LiveId" clId="{804CD420-2043-45B2-9B3E-6FA3A30244B7}" dt="2026-10-18T09:28:07.978" v="11" actId="1076"/>
          <ac:spMkLst>
            <pc:docMk/>
            <pc:sldMk cId="0" sldId="264"/>
            <ac:spMk id="17" creationId="{00000000-0000-0000-0000-000000000000}"/>
          </ac:spMkLst>
        </pc:spChg>
        <pc:spChg chg="mod">
          <ac:chgData name="Devansh Lila" userId="222479854f6efa59" providerId="LiveId" clId="{804CD420-2043-45B2-9B3E-6FA3A30244B7}" dt="2026-10-18T09:28:18.949" v="13" actId="1076"/>
          <ac:spMkLst>
            <pc:docMk/>
            <pc:sldMk cId="0" sldId="264"/>
            <ac:spMk id="18" creationId="{00000000-0000-0000-0000-000000000000}"/>
          </ac:spMkLst>
        </pc:spChg>
        <pc:spChg chg="mod">
          <ac:chgData name="Devansh Lila" userId="222479854f6efa59" providerId="LiveId" clId="{804CD420-2043-45B2-9B3E-6FA3A30244B7}" dt="2026-10-18T09:28:13.619" v="12" actId="1076"/>
          <ac:spMkLst>
            <pc:docMk/>
            <pc:sldMk cId="0" sldId="264"/>
            <ac:spMk id="19"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F1E"/>
        </a:solidFill>
        <a:effectLst/>
      </p:bgPr>
    </p:bg>
    <p:spTree>
      <p:nvGrpSpPr>
        <p:cNvPr id="1" name=""/>
        <p:cNvGrpSpPr/>
        <p:nvPr/>
      </p:nvGrpSpPr>
      <p:grpSpPr>
        <a:xfrm>
          <a:off x="0" y="0"/>
          <a:ext cx="0" cy="0"/>
          <a:chOff x="0" y="0"/>
          <a:chExt cx="0" cy="0"/>
        </a:xfrm>
      </p:grpSpPr>
      <p:cxnSp>
        <p:nvCxnSpPr>
          <p:cNvPr id="2" name="Connector 1"/>
          <p:cNvCxnSpPr/>
          <p:nvPr/>
        </p:nvCxnSpPr>
        <p:spPr>
          <a:xfrm>
            <a:off x="1371600" y="0"/>
            <a:ext cx="0" cy="6858000"/>
          </a:xfrm>
          <a:prstGeom prst="line">
            <a:avLst/>
          </a:prstGeom>
          <a:ln w="9525">
            <a:solidFill>
              <a:srgbClr val="0F1B2D"/>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3657600" y="0"/>
            <a:ext cx="0" cy="6858000"/>
          </a:xfrm>
          <a:prstGeom prst="line">
            <a:avLst/>
          </a:prstGeom>
          <a:ln w="9525">
            <a:solidFill>
              <a:srgbClr val="0F1B2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943600" y="0"/>
            <a:ext cx="0" cy="6858000"/>
          </a:xfrm>
          <a:prstGeom prst="line">
            <a:avLst/>
          </a:prstGeom>
          <a:ln w="9525">
            <a:solidFill>
              <a:srgbClr val="0F1B2D"/>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229600" y="0"/>
            <a:ext cx="0" cy="6858000"/>
          </a:xfrm>
          <a:prstGeom prst="line">
            <a:avLst/>
          </a:prstGeom>
          <a:ln w="9525">
            <a:solidFill>
              <a:srgbClr val="0F1B2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515600" y="0"/>
            <a:ext cx="0" cy="6858000"/>
          </a:xfrm>
          <a:prstGeom prst="line">
            <a:avLst/>
          </a:prstGeom>
          <a:ln w="9525">
            <a:solidFill>
              <a:srgbClr val="0F1B2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00887" y="502919"/>
            <a:ext cx="10789920" cy="5852160"/>
          </a:xfrm>
          <a:prstGeom prst="roundRect">
            <a:avLst/>
          </a:prstGeom>
          <a:solidFill>
            <a:srgbClr val="0F1B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249527" y="960119"/>
            <a:ext cx="2286000" cy="320040"/>
          </a:xfrm>
          <a:prstGeom prst="roundRect">
            <a:avLst/>
          </a:prstGeom>
          <a:solidFill>
            <a:srgbClr val="121E34"/>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49527" y="978407"/>
            <a:ext cx="2286000" cy="274320"/>
          </a:xfrm>
          <a:prstGeom prst="rect">
            <a:avLst/>
          </a:prstGeom>
          <a:noFill/>
        </p:spPr>
        <p:txBody>
          <a:bodyPr wrap="square" lIns="45720" rIns="45720" anchor="t">
            <a:spAutoFit/>
          </a:bodyPr>
          <a:lstStyle/>
          <a:p>
            <a:pPr algn="ctr">
              <a:defRPr sz="900" b="1">
                <a:solidFill>
                  <a:srgbClr val="A855F7"/>
                </a:solidFill>
                <a:latin typeface="Segoe UI"/>
              </a:defRPr>
            </a:pPr>
            <a:r>
              <a:t>365 nm UV-A AUTOFLUORESCENCE</a:t>
            </a:r>
          </a:p>
        </p:txBody>
      </p:sp>
      <p:sp>
        <p:nvSpPr>
          <p:cNvPr id="10" name="Rounded Rectangle 9"/>
          <p:cNvSpPr/>
          <p:nvPr/>
        </p:nvSpPr>
        <p:spPr>
          <a:xfrm>
            <a:off x="4175607" y="960119"/>
            <a:ext cx="2286000" cy="320040"/>
          </a:xfrm>
          <a:prstGeom prst="roundRect">
            <a:avLst/>
          </a:prstGeom>
          <a:solidFill>
            <a:srgbClr val="121E34"/>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175607" y="978407"/>
            <a:ext cx="2286000" cy="274320"/>
          </a:xfrm>
          <a:prstGeom prst="rect">
            <a:avLst/>
          </a:prstGeom>
          <a:noFill/>
        </p:spPr>
        <p:txBody>
          <a:bodyPr wrap="square" lIns="45720" rIns="45720" anchor="t">
            <a:spAutoFit/>
          </a:bodyPr>
          <a:lstStyle/>
          <a:p>
            <a:pPr algn="ctr">
              <a:defRPr sz="900" b="1">
                <a:solidFill>
                  <a:srgbClr val="F43F5E"/>
                </a:solidFill>
                <a:latin typeface="Segoe UI"/>
              </a:defRPr>
            </a:pPr>
            <a:r>
              <a:t>850 nm NIR ABSORPTION</a:t>
            </a:r>
          </a:p>
        </p:txBody>
      </p:sp>
      <p:sp>
        <p:nvSpPr>
          <p:cNvPr id="12" name="Rounded Rectangle 11"/>
          <p:cNvSpPr/>
          <p:nvPr/>
        </p:nvSpPr>
        <p:spPr>
          <a:xfrm>
            <a:off x="6735927" y="960119"/>
            <a:ext cx="2286000" cy="320040"/>
          </a:xfrm>
          <a:prstGeom prst="roundRect">
            <a:avLst/>
          </a:prstGeom>
          <a:solidFill>
            <a:srgbClr val="121E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35927" y="978407"/>
            <a:ext cx="2286000" cy="274320"/>
          </a:xfrm>
          <a:prstGeom prst="rect">
            <a:avLst/>
          </a:prstGeom>
          <a:noFill/>
        </p:spPr>
        <p:txBody>
          <a:bodyPr wrap="square" lIns="45720" rIns="45720" anchor="t">
            <a:spAutoFit/>
          </a:bodyPr>
          <a:lstStyle/>
          <a:p>
            <a:pPr algn="ctr">
              <a:defRPr sz="900" b="1">
                <a:solidFill>
                  <a:srgbClr val="06B6D4"/>
                </a:solidFill>
                <a:latin typeface="Segoe UI"/>
              </a:defRPr>
            </a:pPr>
            <a:r>
              <a:t>ARDUINO UNO R4 EMBEDDED</a:t>
            </a:r>
          </a:p>
        </p:txBody>
      </p:sp>
      <p:sp>
        <p:nvSpPr>
          <p:cNvPr id="14" name="Rounded Rectangle 13"/>
          <p:cNvSpPr/>
          <p:nvPr/>
        </p:nvSpPr>
        <p:spPr>
          <a:xfrm>
            <a:off x="9204807" y="960119"/>
            <a:ext cx="2286000" cy="320040"/>
          </a:xfrm>
          <a:prstGeom prst="roundRect">
            <a:avLst/>
          </a:prstGeom>
          <a:solidFill>
            <a:srgbClr val="121E34"/>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04807" y="978407"/>
            <a:ext cx="2286000" cy="274320"/>
          </a:xfrm>
          <a:prstGeom prst="rect">
            <a:avLst/>
          </a:prstGeom>
          <a:noFill/>
        </p:spPr>
        <p:txBody>
          <a:bodyPr wrap="square" lIns="45720" rIns="45720" anchor="t">
            <a:spAutoFit/>
          </a:bodyPr>
          <a:lstStyle/>
          <a:p>
            <a:pPr algn="ctr">
              <a:defRPr sz="900" b="1">
                <a:solidFill>
                  <a:srgbClr val="14B8A6"/>
                </a:solidFill>
                <a:latin typeface="Segoe UI"/>
              </a:defRPr>
            </a:pPr>
            <a:r>
              <a:t>OPENCV COMPUTER VISION</a:t>
            </a:r>
          </a:p>
        </p:txBody>
      </p:sp>
      <p:sp>
        <p:nvSpPr>
          <p:cNvPr id="16" name="TextBox 15"/>
          <p:cNvSpPr txBox="1"/>
          <p:nvPr/>
        </p:nvSpPr>
        <p:spPr>
          <a:xfrm>
            <a:off x="1249527" y="1554479"/>
            <a:ext cx="9692640" cy="777240"/>
          </a:xfrm>
          <a:prstGeom prst="rect">
            <a:avLst/>
          </a:prstGeom>
          <a:noFill/>
        </p:spPr>
        <p:txBody>
          <a:bodyPr wrap="square" lIns="45720" rIns="45720" anchor="t">
            <a:spAutoFit/>
          </a:bodyPr>
          <a:lstStyle/>
          <a:p>
            <a:pPr>
              <a:defRPr sz="4600" b="1">
                <a:solidFill>
                  <a:srgbClr val="F8FAFC"/>
                </a:solidFill>
                <a:latin typeface="Segoe UI"/>
              </a:defRPr>
            </a:pPr>
            <a:r>
              <a:t>BloodTrace™</a:t>
            </a:r>
          </a:p>
        </p:txBody>
      </p:sp>
      <p:sp>
        <p:nvSpPr>
          <p:cNvPr id="17" name="TextBox 16"/>
          <p:cNvSpPr txBox="1"/>
          <p:nvPr/>
        </p:nvSpPr>
        <p:spPr>
          <a:xfrm>
            <a:off x="1249527" y="2377439"/>
            <a:ext cx="9692640" cy="457200"/>
          </a:xfrm>
          <a:prstGeom prst="rect">
            <a:avLst/>
          </a:prstGeom>
          <a:noFill/>
        </p:spPr>
        <p:txBody>
          <a:bodyPr wrap="square" lIns="45720" rIns="45720" anchor="t">
            <a:spAutoFit/>
          </a:bodyPr>
          <a:lstStyle/>
          <a:p>
            <a:pPr>
              <a:defRPr sz="2200" b="1">
                <a:solidFill>
                  <a:srgbClr val="22D3EE"/>
                </a:solidFill>
                <a:latin typeface="Segoe UI"/>
              </a:defRPr>
            </a:pPr>
            <a:r>
              <a:t>Dual-Wavelength Optical Contamination Screening Platform</a:t>
            </a:r>
          </a:p>
        </p:txBody>
      </p:sp>
      <p:sp>
        <p:nvSpPr>
          <p:cNvPr id="18" name="TextBox 17"/>
          <p:cNvSpPr txBox="1"/>
          <p:nvPr/>
        </p:nvSpPr>
        <p:spPr>
          <a:xfrm>
            <a:off x="1249527" y="2926079"/>
            <a:ext cx="9692640" cy="548640"/>
          </a:xfrm>
          <a:prstGeom prst="rect">
            <a:avLst/>
          </a:prstGeom>
          <a:noFill/>
        </p:spPr>
        <p:txBody>
          <a:bodyPr wrap="square" lIns="45720" rIns="45720" anchor="t">
            <a:spAutoFit/>
          </a:bodyPr>
          <a:lstStyle/>
          <a:p>
            <a:pPr>
              <a:defRPr sz="1500" b="0">
                <a:solidFill>
                  <a:srgbClr val="CBD5E1"/>
                </a:solidFill>
                <a:latin typeface="Segoe UI"/>
              </a:defRPr>
            </a:pPr>
            <a:r>
              <a:t>Rapid, Non-Destructive Bioburden Localization for Reusable Surgical Instruments Prior to Autoclave Sterilization</a:t>
            </a:r>
          </a:p>
        </p:txBody>
      </p:sp>
      <p:sp>
        <p:nvSpPr>
          <p:cNvPr id="19" name="Rectangle 18"/>
          <p:cNvSpPr/>
          <p:nvPr/>
        </p:nvSpPr>
        <p:spPr>
          <a:xfrm>
            <a:off x="1249527" y="3611879"/>
            <a:ext cx="9692640" cy="1828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249527" y="3840479"/>
            <a:ext cx="4389120" cy="320040"/>
          </a:xfrm>
          <a:prstGeom prst="rect">
            <a:avLst/>
          </a:prstGeom>
          <a:noFill/>
        </p:spPr>
        <p:txBody>
          <a:bodyPr wrap="square" lIns="45720" rIns="45720" anchor="t">
            <a:spAutoFit/>
          </a:bodyPr>
          <a:lstStyle/>
          <a:p>
            <a:pPr>
              <a:defRPr sz="1100" b="1">
                <a:solidFill>
                  <a:srgbClr val="06B6D4"/>
                </a:solidFill>
                <a:latin typeface="Segoe UI"/>
              </a:defRPr>
            </a:pPr>
            <a:r>
              <a:t>PRESENTER &amp; PROJECT LEAD</a:t>
            </a:r>
          </a:p>
        </p:txBody>
      </p:sp>
      <p:sp>
        <p:nvSpPr>
          <p:cNvPr id="21" name="TextBox 20"/>
          <p:cNvSpPr txBox="1"/>
          <p:nvPr/>
        </p:nvSpPr>
        <p:spPr>
          <a:xfrm>
            <a:off x="1249527" y="4160520"/>
            <a:ext cx="4389120" cy="320040"/>
          </a:xfrm>
          <a:prstGeom prst="rect">
            <a:avLst/>
          </a:prstGeom>
          <a:noFill/>
        </p:spPr>
        <p:txBody>
          <a:bodyPr wrap="square" lIns="45720" rIns="45720" anchor="t">
            <a:spAutoFit/>
          </a:bodyPr>
          <a:lstStyle/>
          <a:p>
            <a:pPr>
              <a:defRPr sz="1800" b="1">
                <a:solidFill>
                  <a:srgbClr val="F8FAFC"/>
                </a:solidFill>
                <a:latin typeface="Segoe UI"/>
              </a:defRPr>
            </a:pPr>
            <a:r>
              <a:t>Devansh Lila</a:t>
            </a:r>
          </a:p>
        </p:txBody>
      </p:sp>
      <p:sp>
        <p:nvSpPr>
          <p:cNvPr id="22" name="TextBox 21"/>
          <p:cNvSpPr txBox="1"/>
          <p:nvPr/>
        </p:nvSpPr>
        <p:spPr>
          <a:xfrm>
            <a:off x="1249527" y="4526280"/>
            <a:ext cx="4754880" cy="594360"/>
          </a:xfrm>
          <a:prstGeom prst="rect">
            <a:avLst/>
          </a:prstGeom>
          <a:noFill/>
        </p:spPr>
        <p:txBody>
          <a:bodyPr wrap="square" lIns="45720" rIns="45720" anchor="t">
            <a:spAutoFit/>
          </a:bodyPr>
          <a:lstStyle/>
          <a:p>
            <a:pPr>
              <a:defRPr sz="1300" b="0">
                <a:solidFill>
                  <a:srgbClr val="CBD5E1"/>
                </a:solidFill>
                <a:latin typeface="Segoe UI"/>
              </a:defRPr>
            </a:pPr>
            <a:r>
              <a:t>Department of Mechanical / Biomedical Engineering</a:t>
            </a:r>
          </a:p>
          <a:p>
            <a:pPr>
              <a:defRPr sz="1300" b="0">
                <a:solidFill>
                  <a:srgbClr val="CBD5E1"/>
                </a:solidFill>
                <a:latin typeface="Segoe UI"/>
              </a:defRPr>
            </a:pPr>
            <a:r>
              <a:t>Malaviya National Institute of Technology (MNIT) Jaipur</a:t>
            </a:r>
          </a:p>
        </p:txBody>
      </p:sp>
      <p:sp>
        <p:nvSpPr>
          <p:cNvPr id="23" name="TextBox 22"/>
          <p:cNvSpPr txBox="1"/>
          <p:nvPr/>
        </p:nvSpPr>
        <p:spPr>
          <a:xfrm>
            <a:off x="6370167" y="3840479"/>
            <a:ext cx="4572000" cy="320040"/>
          </a:xfrm>
          <a:prstGeom prst="rect">
            <a:avLst/>
          </a:prstGeom>
          <a:noFill/>
        </p:spPr>
        <p:txBody>
          <a:bodyPr wrap="square" lIns="45720" rIns="45720" anchor="t">
            <a:spAutoFit/>
          </a:bodyPr>
          <a:lstStyle/>
          <a:p>
            <a:pPr>
              <a:defRPr sz="1100" b="1">
                <a:solidFill>
                  <a:srgbClr val="06B6D4"/>
                </a:solidFill>
                <a:latin typeface="Segoe UI"/>
              </a:defRPr>
            </a:pPr>
            <a:r>
              <a:t>KEY INNOVATION METRICS</a:t>
            </a:r>
          </a:p>
        </p:txBody>
      </p:sp>
      <p:sp>
        <p:nvSpPr>
          <p:cNvPr id="24" name="TextBox 23"/>
          <p:cNvSpPr txBox="1"/>
          <p:nvPr/>
        </p:nvSpPr>
        <p:spPr>
          <a:xfrm>
            <a:off x="6370167" y="4160520"/>
            <a:ext cx="4572000" cy="1097280"/>
          </a:xfrm>
          <a:prstGeom prst="rect">
            <a:avLst/>
          </a:prstGeom>
          <a:noFill/>
        </p:spPr>
        <p:txBody>
          <a:bodyPr wrap="square" lIns="36576" tIns="18288" rIns="36576" bIns="18288">
            <a:spAutoFit/>
          </a:bodyPr>
          <a:lstStyle/>
          <a:p>
            <a:pPr>
              <a:spcAft>
                <a:spcPts val="800"/>
              </a:spcAft>
              <a:defRPr sz="1200">
                <a:solidFill>
                  <a:srgbClr val="CBD5E1"/>
                </a:solidFill>
                <a:latin typeface="Segoe UI"/>
              </a:defRPr>
            </a:pPr>
            <a:r>
              <a:t>•  Hardware Bill-of-Materials: ~$64.00 (Low-resource healthcare accessibility)</a:t>
            </a:r>
          </a:p>
          <a:p>
            <a:pPr>
              <a:spcAft>
                <a:spcPts val="800"/>
              </a:spcAft>
              <a:defRPr sz="1200">
                <a:solidFill>
                  <a:srgbClr val="CBD5E1"/>
                </a:solidFill>
                <a:latin typeface="Segoe UI"/>
              </a:defRPr>
            </a:pPr>
            <a:r>
              <a:t>•  Screening Duration: &lt; 3 seconds per instrument (Pre-autoclave quality gate)</a:t>
            </a:r>
          </a:p>
          <a:p>
            <a:pPr>
              <a:spcAft>
                <a:spcPts val="800"/>
              </a:spcAft>
              <a:defRPr sz="1200">
                <a:solidFill>
                  <a:srgbClr val="CBD5E1"/>
                </a:solidFill>
                <a:latin typeface="Segoe UI"/>
              </a:defRPr>
            </a:pPr>
            <a:r>
              <a:t>•  Multi-Spectral Physics: 365nm fluorophore emission + 850nm heme absorption</a:t>
            </a:r>
          </a:p>
        </p:txBody>
      </p:sp>
      <p:sp>
        <p:nvSpPr>
          <p:cNvPr id="25" name="Rounded Rectangle 24"/>
          <p:cNvSpPr/>
          <p:nvPr/>
        </p:nvSpPr>
        <p:spPr>
          <a:xfrm>
            <a:off x="1249527" y="5303520"/>
            <a:ext cx="9692640" cy="685800"/>
          </a:xfrm>
          <a:prstGeom prst="roundRect">
            <a:avLst/>
          </a:prstGeom>
          <a:solidFill>
            <a:srgbClr val="281E0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432407" y="5349240"/>
            <a:ext cx="9326880" cy="256032"/>
          </a:xfrm>
          <a:prstGeom prst="rect">
            <a:avLst/>
          </a:prstGeom>
          <a:noFill/>
        </p:spPr>
        <p:txBody>
          <a:bodyPr wrap="square" lIns="45720" rIns="45720" anchor="t">
            <a:spAutoFit/>
          </a:bodyPr>
          <a:lstStyle/>
          <a:p>
            <a:pPr>
              <a:defRPr sz="1000" b="1">
                <a:solidFill>
                  <a:srgbClr val="F59E0B"/>
                </a:solidFill>
                <a:latin typeface="Segoe UI"/>
              </a:defRPr>
            </a:pPr>
            <a:r>
              <a:t>⚠ REGULATORY SAFETY NOTICE &amp; PROTOTYPE DEMARCATION</a:t>
            </a:r>
          </a:p>
        </p:txBody>
      </p:sp>
      <p:sp>
        <p:nvSpPr>
          <p:cNvPr id="27" name="TextBox 26"/>
          <p:cNvSpPr txBox="1"/>
          <p:nvPr/>
        </p:nvSpPr>
        <p:spPr>
          <a:xfrm>
            <a:off x="1432407" y="5605272"/>
            <a:ext cx="9326880" cy="365760"/>
          </a:xfrm>
          <a:prstGeom prst="rect">
            <a:avLst/>
          </a:prstGeom>
          <a:noFill/>
        </p:spPr>
        <p:txBody>
          <a:bodyPr wrap="square" lIns="45720" rIns="45720" anchor="t">
            <a:spAutoFit/>
          </a:bodyPr>
          <a:lstStyle/>
          <a:p>
            <a:pPr>
              <a:defRPr sz="900" b="0">
                <a:solidFill>
                  <a:srgbClr val="FDE68A"/>
                </a:solidFill>
                <a:latin typeface="Segoe UI"/>
              </a:defRPr>
            </a:pPr>
            <a:r>
              <a:t>BloodTrace is an experimental college-level engineering proof-of-concept screening prototype. It is NOT an FDA-cleared in-vitro diagnostic device. Categorizes candidate regions as 'Suspected Residue' to assist human inspection; cannot establish sterility or release tools for surgery.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F1E"/>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10789920" cy="274320"/>
          </a:xfrm>
          <a:prstGeom prst="rect">
            <a:avLst/>
          </a:prstGeom>
          <a:noFill/>
        </p:spPr>
        <p:txBody>
          <a:bodyPr wrap="square" lIns="45720" rIns="45720" anchor="t">
            <a:spAutoFit/>
          </a:bodyPr>
          <a:lstStyle/>
          <a:p>
            <a:pPr>
              <a:defRPr sz="1100" b="1">
                <a:solidFill>
                  <a:srgbClr val="06B6D4"/>
                </a:solidFill>
                <a:latin typeface="Segoe UI"/>
              </a:defRPr>
            </a:pPr>
            <a:r>
              <a:t>CLINICAL PROBLEM &amp; MOTIVATION</a:t>
            </a:r>
          </a:p>
        </p:txBody>
      </p:sp>
      <p:sp>
        <p:nvSpPr>
          <p:cNvPr id="3" name="TextBox 2"/>
          <p:cNvSpPr txBox="1"/>
          <p:nvPr/>
        </p:nvSpPr>
        <p:spPr>
          <a:xfrm>
            <a:off x="658368" y="594360"/>
            <a:ext cx="10789920" cy="502920"/>
          </a:xfrm>
          <a:prstGeom prst="rect">
            <a:avLst/>
          </a:prstGeom>
          <a:noFill/>
        </p:spPr>
        <p:txBody>
          <a:bodyPr wrap="square" lIns="45720" rIns="45720" anchor="t">
            <a:spAutoFit/>
          </a:bodyPr>
          <a:lstStyle/>
          <a:p>
            <a:pPr>
              <a:defRPr sz="2400" b="1">
                <a:solidFill>
                  <a:srgbClr val="F8FAFC"/>
                </a:solidFill>
                <a:latin typeface="Segoe UI"/>
              </a:defRPr>
            </a:pPr>
            <a:r>
              <a:t>Why Residual Soil on Reusable Instruments Demands Objective Screening</a:t>
            </a:r>
          </a:p>
        </p:txBody>
      </p:sp>
      <p:sp>
        <p:nvSpPr>
          <p:cNvPr id="4" name="Rectangle 3"/>
          <p:cNvSpPr/>
          <p:nvPr/>
        </p:nvSpPr>
        <p:spPr>
          <a:xfrm>
            <a:off x="685800" y="1115568"/>
            <a:ext cx="7772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548640" cy="274320"/>
          </a:xfrm>
          <a:prstGeom prst="rect">
            <a:avLst/>
          </a:prstGeom>
          <a:noFill/>
        </p:spPr>
        <p:txBody>
          <a:bodyPr wrap="square" lIns="45720" rIns="45720" anchor="t">
            <a:spAutoFit/>
          </a:bodyPr>
          <a:lstStyle/>
          <a:p>
            <a:pPr algn="r">
              <a:defRPr sz="1000" b="0">
                <a:solidFill>
                  <a:srgbClr val="94A3B8"/>
                </a:solidFill>
                <a:latin typeface="Segoe UI"/>
              </a:defRPr>
            </a:pPr>
            <a:r>
              <a:t>02 / 09</a:t>
            </a:r>
          </a:p>
        </p:txBody>
      </p:sp>
      <p:sp>
        <p:nvSpPr>
          <p:cNvPr id="6" name="TextBox 5"/>
          <p:cNvSpPr txBox="1"/>
          <p:nvPr/>
        </p:nvSpPr>
        <p:spPr>
          <a:xfrm>
            <a:off x="685800" y="6446520"/>
            <a:ext cx="7315200" cy="274320"/>
          </a:xfrm>
          <a:prstGeom prst="rect">
            <a:avLst/>
          </a:prstGeom>
          <a:noFill/>
        </p:spPr>
        <p:txBody>
          <a:bodyPr wrap="square" lIns="45720" rIns="45720" anchor="t">
            <a:spAutoFit/>
          </a:bodyPr>
          <a:lstStyle/>
          <a:p>
            <a:pPr>
              <a:defRPr sz="900" b="0">
                <a:solidFill>
                  <a:srgbClr val="94A3B8"/>
                </a:solidFill>
                <a:latin typeface="Segoe UI"/>
              </a:defRPr>
            </a:pPr>
            <a:r>
              <a:t>BLOODTRACE™ — MNIT JAIPUR • DEVANSH LILA • CONFIDENTIAL &amp; PROPRIETARY</a:t>
            </a:r>
          </a:p>
        </p:txBody>
      </p:sp>
      <p:sp>
        <p:nvSpPr>
          <p:cNvPr id="7" name="Rounded Rectangle 6"/>
          <p:cNvSpPr/>
          <p:nvPr/>
        </p:nvSpPr>
        <p:spPr>
          <a:xfrm>
            <a:off x="685800" y="1371600"/>
            <a:ext cx="3429000" cy="2606040"/>
          </a:xfrm>
          <a:prstGeom prst="roundRect">
            <a:avLst/>
          </a:prstGeom>
          <a:solidFill>
            <a:srgbClr val="0F1B30"/>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58952" y="1481328"/>
            <a:ext cx="54864" cy="2386584"/>
          </a:xfrm>
          <a:prstGeom prst="round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05256" y="1481328"/>
            <a:ext cx="3099816" cy="320040"/>
          </a:xfrm>
          <a:prstGeom prst="rect">
            <a:avLst/>
          </a:prstGeom>
          <a:noFill/>
        </p:spPr>
        <p:txBody>
          <a:bodyPr wrap="square" lIns="45720" rIns="45720" anchor="t">
            <a:spAutoFit/>
          </a:bodyPr>
          <a:lstStyle/>
          <a:p>
            <a:pPr>
              <a:defRPr sz="1500" b="1">
                <a:solidFill>
                  <a:srgbClr val="F43F5E"/>
                </a:solidFill>
                <a:latin typeface="Segoe UI"/>
              </a:defRPr>
            </a:pPr>
            <a:r>
              <a:t>Bioburden In Crevices</a:t>
            </a:r>
          </a:p>
        </p:txBody>
      </p:sp>
      <p:sp>
        <p:nvSpPr>
          <p:cNvPr id="10" name="TextBox 9"/>
          <p:cNvSpPr txBox="1"/>
          <p:nvPr/>
        </p:nvSpPr>
        <p:spPr>
          <a:xfrm>
            <a:off x="905256" y="1828800"/>
            <a:ext cx="3099816" cy="2057400"/>
          </a:xfrm>
          <a:prstGeom prst="rect">
            <a:avLst/>
          </a:prstGeom>
          <a:noFill/>
        </p:spPr>
        <p:txBody>
          <a:bodyPr wrap="square" lIns="45720" rIns="45720" anchor="t">
            <a:spAutoFit/>
          </a:bodyPr>
          <a:lstStyle/>
          <a:p>
            <a:pPr>
              <a:defRPr sz="1200" b="0">
                <a:solidFill>
                  <a:srgbClr val="CBD5E1"/>
                </a:solidFill>
                <a:latin typeface="Segoe UI"/>
              </a:defRPr>
            </a:pPr>
            <a:r>
              <a:t>Blood, cellular debris, and proteins become mechanically trapped in serrated jaws, box locks, and hinged joints of surgical forceps and clamps during invasive surgery. Incomplete manual washing leaves microscopic residues in these recesses.</a:t>
            </a:r>
          </a:p>
        </p:txBody>
      </p:sp>
      <p:sp>
        <p:nvSpPr>
          <p:cNvPr id="11" name="Rounded Rectangle 10"/>
          <p:cNvSpPr/>
          <p:nvPr/>
        </p:nvSpPr>
        <p:spPr>
          <a:xfrm>
            <a:off x="4389120" y="1371600"/>
            <a:ext cx="3429000" cy="2606040"/>
          </a:xfrm>
          <a:prstGeom prst="roundRect">
            <a:avLst/>
          </a:prstGeom>
          <a:solidFill>
            <a:srgbClr val="0F1B30"/>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462272" y="1481328"/>
            <a:ext cx="54864" cy="2386584"/>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08576" y="1481328"/>
            <a:ext cx="3099816" cy="320040"/>
          </a:xfrm>
          <a:prstGeom prst="rect">
            <a:avLst/>
          </a:prstGeom>
          <a:noFill/>
        </p:spPr>
        <p:txBody>
          <a:bodyPr wrap="square" lIns="45720" rIns="45720" anchor="t">
            <a:spAutoFit/>
          </a:bodyPr>
          <a:lstStyle/>
          <a:p>
            <a:pPr>
              <a:defRPr sz="1500" b="1">
                <a:solidFill>
                  <a:srgbClr val="F59E0B"/>
                </a:solidFill>
                <a:latin typeface="Segoe UI"/>
              </a:defRPr>
            </a:pPr>
            <a:r>
              <a:t>The 'Baking' Hazard</a:t>
            </a:r>
          </a:p>
        </p:txBody>
      </p:sp>
      <p:sp>
        <p:nvSpPr>
          <p:cNvPr id="14" name="TextBox 13"/>
          <p:cNvSpPr txBox="1"/>
          <p:nvPr/>
        </p:nvSpPr>
        <p:spPr>
          <a:xfrm>
            <a:off x="4608576" y="1828800"/>
            <a:ext cx="3099816" cy="2057400"/>
          </a:xfrm>
          <a:prstGeom prst="rect">
            <a:avLst/>
          </a:prstGeom>
          <a:noFill/>
        </p:spPr>
        <p:txBody>
          <a:bodyPr wrap="square" lIns="45720" rIns="45720" anchor="t">
            <a:spAutoFit/>
          </a:bodyPr>
          <a:lstStyle/>
          <a:p>
            <a:pPr>
              <a:defRPr sz="1200" b="0">
                <a:solidFill>
                  <a:srgbClr val="CBD5E1"/>
                </a:solidFill>
                <a:latin typeface="Segoe UI"/>
              </a:defRPr>
            </a:pPr>
            <a:r>
              <a:t>Autoclave sterilization relies on direct pressurized saturated steam contact. If organic bioburden survives into the autoclave, steam cannot penetrate the dried coagulum; heat bakes proteins onto steel, shielding viable bacterial spores beneath.</a:t>
            </a:r>
          </a:p>
        </p:txBody>
      </p:sp>
      <p:sp>
        <p:nvSpPr>
          <p:cNvPr id="15" name="Rounded Rectangle 14"/>
          <p:cNvSpPr/>
          <p:nvPr/>
        </p:nvSpPr>
        <p:spPr>
          <a:xfrm>
            <a:off x="8092440" y="1371600"/>
            <a:ext cx="3429000" cy="2606040"/>
          </a:xfrm>
          <a:prstGeom prst="roundRect">
            <a:avLst/>
          </a:prstGeom>
          <a:solidFill>
            <a:srgbClr val="0F1B30"/>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165592" y="1481328"/>
            <a:ext cx="54864" cy="2386584"/>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11896" y="1481328"/>
            <a:ext cx="3099816" cy="320040"/>
          </a:xfrm>
          <a:prstGeom prst="rect">
            <a:avLst/>
          </a:prstGeom>
          <a:noFill/>
        </p:spPr>
        <p:txBody>
          <a:bodyPr wrap="square" lIns="45720" rIns="45720" anchor="t">
            <a:spAutoFit/>
          </a:bodyPr>
          <a:lstStyle/>
          <a:p>
            <a:pPr>
              <a:defRPr sz="1500" b="1">
                <a:solidFill>
                  <a:srgbClr val="06B6D4"/>
                </a:solidFill>
                <a:latin typeface="Segoe UI"/>
              </a:defRPr>
            </a:pPr>
            <a:r>
              <a:t>Human Visual Inspection Gap</a:t>
            </a:r>
          </a:p>
        </p:txBody>
      </p:sp>
      <p:sp>
        <p:nvSpPr>
          <p:cNvPr id="18" name="TextBox 17"/>
          <p:cNvSpPr txBox="1"/>
          <p:nvPr/>
        </p:nvSpPr>
        <p:spPr>
          <a:xfrm>
            <a:off x="8311896" y="1828800"/>
            <a:ext cx="3099816" cy="2057400"/>
          </a:xfrm>
          <a:prstGeom prst="rect">
            <a:avLst/>
          </a:prstGeom>
          <a:noFill/>
        </p:spPr>
        <p:txBody>
          <a:bodyPr wrap="square" lIns="45720" rIns="45720" anchor="t">
            <a:spAutoFit/>
          </a:bodyPr>
          <a:lstStyle/>
          <a:p>
            <a:pPr>
              <a:defRPr sz="1200" b="0">
                <a:solidFill>
                  <a:srgbClr val="CBD5E1"/>
                </a:solidFill>
                <a:latin typeface="Segoe UI"/>
              </a:defRPr>
            </a:pPr>
            <a:r>
              <a:t>Under standard hospital overhead lighting, human visual inspection fails to detect up to 40% of residual micro-bioburden. Hospital-acquired surgical site infections (SSIs) cost healthcare systems over $3.3 Billion annually in avoidable morbidity.</a:t>
            </a:r>
          </a:p>
        </p:txBody>
      </p:sp>
      <p:sp>
        <p:nvSpPr>
          <p:cNvPr id="19" name="Rounded Rectangle 18"/>
          <p:cNvSpPr/>
          <p:nvPr/>
        </p:nvSpPr>
        <p:spPr>
          <a:xfrm>
            <a:off x="685800" y="4206240"/>
            <a:ext cx="10835640" cy="1691640"/>
          </a:xfrm>
          <a:prstGeom prst="roundRect">
            <a:avLst/>
          </a:prstGeom>
          <a:solidFill>
            <a:srgbClr val="0F1B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20" y="4343400"/>
            <a:ext cx="10287000" cy="320040"/>
          </a:xfrm>
          <a:prstGeom prst="rect">
            <a:avLst/>
          </a:prstGeom>
          <a:noFill/>
        </p:spPr>
        <p:txBody>
          <a:bodyPr wrap="square" lIns="45720" rIns="45720" anchor="t">
            <a:spAutoFit/>
          </a:bodyPr>
          <a:lstStyle/>
          <a:p>
            <a:pPr>
              <a:defRPr sz="1200" b="1">
                <a:solidFill>
                  <a:srgbClr val="06B6D4"/>
                </a:solidFill>
                <a:latin typeface="Segoe UI"/>
              </a:defRPr>
            </a:pPr>
            <a:r>
              <a:t>CENTRAL ENGINEERING QUESTION</a:t>
            </a:r>
          </a:p>
        </p:txBody>
      </p:sp>
      <p:sp>
        <p:nvSpPr>
          <p:cNvPr id="21" name="TextBox 20"/>
          <p:cNvSpPr txBox="1"/>
          <p:nvPr/>
        </p:nvSpPr>
        <p:spPr>
          <a:xfrm>
            <a:off x="960120" y="4663440"/>
            <a:ext cx="10287000" cy="640080"/>
          </a:xfrm>
          <a:prstGeom prst="rect">
            <a:avLst/>
          </a:prstGeom>
          <a:noFill/>
        </p:spPr>
        <p:txBody>
          <a:bodyPr wrap="square" lIns="45720" rIns="45720" anchor="t">
            <a:spAutoFit/>
          </a:bodyPr>
          <a:lstStyle/>
          <a:p>
            <a:pPr>
              <a:defRPr sz="1600" b="1">
                <a:solidFill>
                  <a:srgbClr val="F8FAFC"/>
                </a:solidFill>
                <a:latin typeface="Segoe UI"/>
              </a:defRPr>
            </a:pPr>
            <a:r>
              <a:t>“Can a compact, low-cost optoelectronic system combining 365 nm UV-A excitation and 850 nm NIR reflectance highlight candidate bioburden regions for human verification before instruments enter the autoclave?”</a:t>
            </a:r>
          </a:p>
        </p:txBody>
      </p:sp>
      <p:sp>
        <p:nvSpPr>
          <p:cNvPr id="22" name="TextBox 21"/>
          <p:cNvSpPr txBox="1"/>
          <p:nvPr/>
        </p:nvSpPr>
        <p:spPr>
          <a:xfrm>
            <a:off x="960120" y="5440680"/>
            <a:ext cx="10287000" cy="320040"/>
          </a:xfrm>
          <a:prstGeom prst="rect">
            <a:avLst/>
          </a:prstGeom>
          <a:noFill/>
        </p:spPr>
        <p:txBody>
          <a:bodyPr wrap="square" lIns="45720" rIns="45720" anchor="t">
            <a:spAutoFit/>
          </a:bodyPr>
          <a:lstStyle/>
          <a:p>
            <a:pPr>
              <a:defRPr sz="1100" b="0">
                <a:solidFill>
                  <a:srgbClr val="94A3B8"/>
                </a:solidFill>
                <a:latin typeface="Segoe UI"/>
              </a:defRPr>
            </a:pPr>
            <a:r>
              <a:t>Scope: Experimental pre-sterilization inspection aid. Does not replace validated washer-disinfector protocols.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F1E"/>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10789920" cy="274320"/>
          </a:xfrm>
          <a:prstGeom prst="rect">
            <a:avLst/>
          </a:prstGeom>
          <a:noFill/>
        </p:spPr>
        <p:txBody>
          <a:bodyPr wrap="square" lIns="45720" rIns="45720" anchor="t">
            <a:spAutoFit/>
          </a:bodyPr>
          <a:lstStyle/>
          <a:p>
            <a:pPr>
              <a:defRPr sz="1100" b="1">
                <a:solidFill>
                  <a:srgbClr val="06B6D4"/>
                </a:solidFill>
                <a:latin typeface="Segoe UI"/>
              </a:defRPr>
            </a:pPr>
            <a:r>
              <a:t>STERILE PROCESSING WORKFLOW</a:t>
            </a:r>
          </a:p>
        </p:txBody>
      </p:sp>
      <p:sp>
        <p:nvSpPr>
          <p:cNvPr id="3" name="TextBox 2"/>
          <p:cNvSpPr txBox="1"/>
          <p:nvPr/>
        </p:nvSpPr>
        <p:spPr>
          <a:xfrm>
            <a:off x="658368" y="594360"/>
            <a:ext cx="10789920" cy="502920"/>
          </a:xfrm>
          <a:prstGeom prst="rect">
            <a:avLst/>
          </a:prstGeom>
          <a:noFill/>
        </p:spPr>
        <p:txBody>
          <a:bodyPr wrap="square" lIns="45720" rIns="45720" anchor="t">
            <a:spAutoFit/>
          </a:bodyPr>
          <a:lstStyle/>
          <a:p>
            <a:pPr>
              <a:defRPr sz="2400" b="1">
                <a:solidFill>
                  <a:srgbClr val="F8FAFC"/>
                </a:solidFill>
                <a:latin typeface="Segoe UI"/>
              </a:defRPr>
            </a:pPr>
            <a:r>
              <a:t>Where BloodTrace Fits in Hospital Reusable Medical Device Reprocessing</a:t>
            </a:r>
          </a:p>
        </p:txBody>
      </p:sp>
      <p:sp>
        <p:nvSpPr>
          <p:cNvPr id="4" name="Rectangle 3"/>
          <p:cNvSpPr/>
          <p:nvPr/>
        </p:nvSpPr>
        <p:spPr>
          <a:xfrm>
            <a:off x="685800" y="1115568"/>
            <a:ext cx="7772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548640" cy="274320"/>
          </a:xfrm>
          <a:prstGeom prst="rect">
            <a:avLst/>
          </a:prstGeom>
          <a:noFill/>
        </p:spPr>
        <p:txBody>
          <a:bodyPr wrap="square" lIns="45720" rIns="45720" anchor="t">
            <a:spAutoFit/>
          </a:bodyPr>
          <a:lstStyle/>
          <a:p>
            <a:pPr algn="r">
              <a:defRPr sz="1000" b="0">
                <a:solidFill>
                  <a:srgbClr val="94A3B8"/>
                </a:solidFill>
                <a:latin typeface="Segoe UI"/>
              </a:defRPr>
            </a:pPr>
            <a:r>
              <a:t>03 / 09</a:t>
            </a:r>
          </a:p>
        </p:txBody>
      </p:sp>
      <p:sp>
        <p:nvSpPr>
          <p:cNvPr id="6" name="TextBox 5"/>
          <p:cNvSpPr txBox="1"/>
          <p:nvPr/>
        </p:nvSpPr>
        <p:spPr>
          <a:xfrm>
            <a:off x="685800" y="6446520"/>
            <a:ext cx="7315200" cy="274320"/>
          </a:xfrm>
          <a:prstGeom prst="rect">
            <a:avLst/>
          </a:prstGeom>
          <a:noFill/>
        </p:spPr>
        <p:txBody>
          <a:bodyPr wrap="square" lIns="45720" rIns="45720" anchor="t">
            <a:spAutoFit/>
          </a:bodyPr>
          <a:lstStyle/>
          <a:p>
            <a:pPr>
              <a:defRPr sz="900" b="0">
                <a:solidFill>
                  <a:srgbClr val="94A3B8"/>
                </a:solidFill>
                <a:latin typeface="Segoe UI"/>
              </a:defRPr>
            </a:pPr>
            <a:r>
              <a:t>BLOODTRACE™ — MNIT JAIPUR • DEVANSH LILA • CONFIDENTIAL &amp; PROPRIETARY</a:t>
            </a:r>
          </a:p>
        </p:txBody>
      </p:sp>
      <p:sp>
        <p:nvSpPr>
          <p:cNvPr id="7" name="Rounded Rectangle 6"/>
          <p:cNvSpPr/>
          <p:nvPr/>
        </p:nvSpPr>
        <p:spPr>
          <a:xfrm>
            <a:off x="685800" y="1371600"/>
            <a:ext cx="2468880" cy="292608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22960" y="1508760"/>
            <a:ext cx="502920" cy="3200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1536192"/>
            <a:ext cx="502920" cy="274320"/>
          </a:xfrm>
          <a:prstGeom prst="rect">
            <a:avLst/>
          </a:prstGeom>
          <a:noFill/>
        </p:spPr>
        <p:txBody>
          <a:bodyPr wrap="square" lIns="45720" rIns="45720" anchor="t">
            <a:spAutoFit/>
          </a:bodyPr>
          <a:lstStyle/>
          <a:p>
            <a:pPr algn="ctr">
              <a:defRPr sz="1200" b="1">
                <a:solidFill>
                  <a:srgbClr val="070F1E"/>
                </a:solidFill>
                <a:latin typeface="Segoe UI"/>
              </a:defRPr>
            </a:pPr>
            <a:r>
              <a:t>01</a:t>
            </a:r>
          </a:p>
        </p:txBody>
      </p:sp>
      <p:sp>
        <p:nvSpPr>
          <p:cNvPr id="10" name="TextBox 9"/>
          <p:cNvSpPr txBox="1"/>
          <p:nvPr/>
        </p:nvSpPr>
        <p:spPr>
          <a:xfrm>
            <a:off x="1417320" y="1508760"/>
            <a:ext cx="1600200" cy="365760"/>
          </a:xfrm>
          <a:prstGeom prst="rect">
            <a:avLst/>
          </a:prstGeom>
          <a:noFill/>
        </p:spPr>
        <p:txBody>
          <a:bodyPr wrap="square" lIns="45720" rIns="45720" anchor="t">
            <a:spAutoFit/>
          </a:bodyPr>
          <a:lstStyle/>
          <a:p>
            <a:pPr>
              <a:defRPr sz="1300" b="1">
                <a:solidFill>
                  <a:srgbClr val="14B8A6"/>
                </a:solidFill>
                <a:latin typeface="Segoe UI"/>
              </a:defRPr>
            </a:pPr>
            <a:r>
              <a:t>Point-of-Use Care</a:t>
            </a:r>
          </a:p>
        </p:txBody>
      </p:sp>
      <p:sp>
        <p:nvSpPr>
          <p:cNvPr id="11" name="TextBox 10"/>
          <p:cNvSpPr txBox="1"/>
          <p:nvPr/>
        </p:nvSpPr>
        <p:spPr>
          <a:xfrm>
            <a:off x="822960" y="1965960"/>
            <a:ext cx="2194560" cy="274320"/>
          </a:xfrm>
          <a:prstGeom prst="rect">
            <a:avLst/>
          </a:prstGeom>
          <a:noFill/>
        </p:spPr>
        <p:txBody>
          <a:bodyPr wrap="square" lIns="45720" rIns="45720" anchor="t">
            <a:spAutoFit/>
          </a:bodyPr>
          <a:lstStyle/>
          <a:p>
            <a:pPr>
              <a:defRPr sz="900" b="1">
                <a:solidFill>
                  <a:srgbClr val="94A3B8"/>
                </a:solidFill>
                <a:latin typeface="Segoe UI"/>
              </a:defRPr>
            </a:pPr>
            <a:r>
              <a:t>SURGICAL SUITE / BEDSIDE</a:t>
            </a:r>
          </a:p>
        </p:txBody>
      </p:sp>
      <p:sp>
        <p:nvSpPr>
          <p:cNvPr id="12" name="Rectangle 11"/>
          <p:cNvSpPr/>
          <p:nvPr/>
        </p:nvSpPr>
        <p:spPr>
          <a:xfrm>
            <a:off x="822960" y="2286000"/>
            <a:ext cx="219456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2423160"/>
            <a:ext cx="2194560" cy="1691640"/>
          </a:xfrm>
          <a:prstGeom prst="rect">
            <a:avLst/>
          </a:prstGeom>
          <a:noFill/>
        </p:spPr>
        <p:txBody>
          <a:bodyPr wrap="square" lIns="45720" rIns="45720" anchor="t">
            <a:spAutoFit/>
          </a:bodyPr>
          <a:lstStyle/>
          <a:p>
            <a:pPr>
              <a:defRPr sz="1100" b="0">
                <a:solidFill>
                  <a:srgbClr val="CBD5E1"/>
                </a:solidFill>
                <a:latin typeface="Segoe UI"/>
              </a:defRPr>
            </a:pPr>
            <a:r>
              <a:t>Immediate wiping at point of use; application of enzymatic foam/gel to prevent coagulum from drying before transport.</a:t>
            </a:r>
          </a:p>
        </p:txBody>
      </p:sp>
      <p:sp>
        <p:nvSpPr>
          <p:cNvPr id="14" name="Rounded Rectangle 13"/>
          <p:cNvSpPr/>
          <p:nvPr/>
        </p:nvSpPr>
        <p:spPr>
          <a:xfrm>
            <a:off x="3474720" y="1371600"/>
            <a:ext cx="2468880" cy="292608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611879" y="1508760"/>
            <a:ext cx="502920" cy="320040"/>
          </a:xfrm>
          <a:prstGeom prst="round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11879" y="1536192"/>
            <a:ext cx="502920" cy="274320"/>
          </a:xfrm>
          <a:prstGeom prst="rect">
            <a:avLst/>
          </a:prstGeom>
          <a:noFill/>
        </p:spPr>
        <p:txBody>
          <a:bodyPr wrap="square" lIns="45720" rIns="45720" anchor="t">
            <a:spAutoFit/>
          </a:bodyPr>
          <a:lstStyle/>
          <a:p>
            <a:pPr algn="ctr">
              <a:defRPr sz="1200" b="1">
                <a:solidFill>
                  <a:srgbClr val="070F1E"/>
                </a:solidFill>
                <a:latin typeface="Segoe UI"/>
              </a:defRPr>
            </a:pPr>
            <a:r>
              <a:t>02</a:t>
            </a:r>
          </a:p>
        </p:txBody>
      </p:sp>
      <p:sp>
        <p:nvSpPr>
          <p:cNvPr id="17" name="TextBox 16"/>
          <p:cNvSpPr txBox="1"/>
          <p:nvPr/>
        </p:nvSpPr>
        <p:spPr>
          <a:xfrm>
            <a:off x="4206240" y="1508760"/>
            <a:ext cx="1600200" cy="365760"/>
          </a:xfrm>
          <a:prstGeom prst="rect">
            <a:avLst/>
          </a:prstGeom>
          <a:noFill/>
        </p:spPr>
        <p:txBody>
          <a:bodyPr wrap="square" lIns="45720" rIns="45720" anchor="t">
            <a:spAutoFit/>
          </a:bodyPr>
          <a:lstStyle/>
          <a:p>
            <a:pPr>
              <a:defRPr sz="1300" b="1">
                <a:solidFill>
                  <a:srgbClr val="06B6D4"/>
                </a:solidFill>
                <a:latin typeface="Segoe UI"/>
              </a:defRPr>
            </a:pPr>
            <a:r>
              <a:t>Cleaning &amp; Decontamination</a:t>
            </a:r>
          </a:p>
        </p:txBody>
      </p:sp>
      <p:sp>
        <p:nvSpPr>
          <p:cNvPr id="18" name="TextBox 17"/>
          <p:cNvSpPr txBox="1"/>
          <p:nvPr/>
        </p:nvSpPr>
        <p:spPr>
          <a:xfrm>
            <a:off x="3611879" y="1965960"/>
            <a:ext cx="2194560" cy="274320"/>
          </a:xfrm>
          <a:prstGeom prst="rect">
            <a:avLst/>
          </a:prstGeom>
          <a:noFill/>
        </p:spPr>
        <p:txBody>
          <a:bodyPr wrap="square" lIns="45720" rIns="45720" anchor="t">
            <a:spAutoFit/>
          </a:bodyPr>
          <a:lstStyle/>
          <a:p>
            <a:pPr>
              <a:defRPr sz="900" b="1">
                <a:solidFill>
                  <a:srgbClr val="94A3B8"/>
                </a:solidFill>
                <a:latin typeface="Segoe UI"/>
              </a:defRPr>
            </a:pPr>
            <a:r>
              <a:t>CENTRAL STERILE DEPT (CSSD)</a:t>
            </a:r>
          </a:p>
        </p:txBody>
      </p:sp>
      <p:sp>
        <p:nvSpPr>
          <p:cNvPr id="19" name="Rectangle 18"/>
          <p:cNvSpPr/>
          <p:nvPr/>
        </p:nvSpPr>
        <p:spPr>
          <a:xfrm>
            <a:off x="3611879" y="2286000"/>
            <a:ext cx="219456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11879" y="2423160"/>
            <a:ext cx="2194560" cy="1691640"/>
          </a:xfrm>
          <a:prstGeom prst="rect">
            <a:avLst/>
          </a:prstGeom>
          <a:noFill/>
        </p:spPr>
        <p:txBody>
          <a:bodyPr wrap="square" lIns="45720" rIns="45720" anchor="t">
            <a:spAutoFit/>
          </a:bodyPr>
          <a:lstStyle/>
          <a:p>
            <a:pPr>
              <a:defRPr sz="1100" b="0">
                <a:solidFill>
                  <a:srgbClr val="CBD5E1"/>
                </a:solidFill>
                <a:latin typeface="Segoe UI"/>
              </a:defRPr>
            </a:pPr>
            <a:r>
              <a:t>Ultrasonic immersion, enzymatic washing, and thermal disinfection in washer-disinfector units. Must precede sterilization.</a:t>
            </a:r>
          </a:p>
        </p:txBody>
      </p:sp>
      <p:sp>
        <p:nvSpPr>
          <p:cNvPr id="21" name="Rounded Rectangle 20"/>
          <p:cNvSpPr/>
          <p:nvPr/>
        </p:nvSpPr>
        <p:spPr>
          <a:xfrm>
            <a:off x="6263640" y="1371600"/>
            <a:ext cx="2468880" cy="2926080"/>
          </a:xfrm>
          <a:prstGeom prst="roundRect">
            <a:avLst/>
          </a:prstGeom>
          <a:solidFill>
            <a:srgbClr val="0F1B30"/>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00800" y="1508760"/>
            <a:ext cx="502920" cy="3200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1536192"/>
            <a:ext cx="502920" cy="274320"/>
          </a:xfrm>
          <a:prstGeom prst="rect">
            <a:avLst/>
          </a:prstGeom>
          <a:noFill/>
        </p:spPr>
        <p:txBody>
          <a:bodyPr wrap="square" lIns="45720" rIns="45720" anchor="t">
            <a:spAutoFit/>
          </a:bodyPr>
          <a:lstStyle/>
          <a:p>
            <a:pPr algn="ctr">
              <a:defRPr sz="1200" b="1">
                <a:solidFill>
                  <a:srgbClr val="070F1E"/>
                </a:solidFill>
                <a:latin typeface="Segoe UI"/>
              </a:defRPr>
            </a:pPr>
            <a:r>
              <a:t>03</a:t>
            </a:r>
          </a:p>
        </p:txBody>
      </p:sp>
      <p:sp>
        <p:nvSpPr>
          <p:cNvPr id="24" name="TextBox 23"/>
          <p:cNvSpPr txBox="1"/>
          <p:nvPr/>
        </p:nvSpPr>
        <p:spPr>
          <a:xfrm>
            <a:off x="6995159" y="1508760"/>
            <a:ext cx="1600200" cy="365760"/>
          </a:xfrm>
          <a:prstGeom prst="rect">
            <a:avLst/>
          </a:prstGeom>
          <a:noFill/>
        </p:spPr>
        <p:txBody>
          <a:bodyPr wrap="square" lIns="45720" rIns="45720" anchor="t">
            <a:spAutoFit/>
          </a:bodyPr>
          <a:lstStyle/>
          <a:p>
            <a:pPr>
              <a:defRPr sz="1300" b="1">
                <a:solidFill>
                  <a:srgbClr val="10B981"/>
                </a:solidFill>
                <a:latin typeface="Segoe UI"/>
              </a:defRPr>
            </a:pPr>
            <a:r>
              <a:t>BloodTrace Optical Screening</a:t>
            </a:r>
          </a:p>
        </p:txBody>
      </p:sp>
      <p:sp>
        <p:nvSpPr>
          <p:cNvPr id="25" name="TextBox 24"/>
          <p:cNvSpPr txBox="1"/>
          <p:nvPr/>
        </p:nvSpPr>
        <p:spPr>
          <a:xfrm>
            <a:off x="6400800" y="1965960"/>
            <a:ext cx="2194560" cy="274320"/>
          </a:xfrm>
          <a:prstGeom prst="rect">
            <a:avLst/>
          </a:prstGeom>
          <a:noFill/>
        </p:spPr>
        <p:txBody>
          <a:bodyPr wrap="square" lIns="45720" rIns="45720" anchor="t">
            <a:spAutoFit/>
          </a:bodyPr>
          <a:lstStyle/>
          <a:p>
            <a:pPr>
              <a:defRPr sz="900" b="1">
                <a:solidFill>
                  <a:srgbClr val="94A3B8"/>
                </a:solidFill>
                <a:latin typeface="Segoe UI"/>
              </a:defRPr>
            </a:pPr>
            <a:r>
              <a:t>PRE-PACKAGING QUALITY GATE</a:t>
            </a:r>
          </a:p>
        </p:txBody>
      </p:sp>
      <p:sp>
        <p:nvSpPr>
          <p:cNvPr id="26" name="Rectangle 25"/>
          <p:cNvSpPr/>
          <p:nvPr/>
        </p:nvSpPr>
        <p:spPr>
          <a:xfrm>
            <a:off x="6400800" y="2286000"/>
            <a:ext cx="219456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0" y="2423160"/>
            <a:ext cx="2194560" cy="1691640"/>
          </a:xfrm>
          <a:prstGeom prst="rect">
            <a:avLst/>
          </a:prstGeom>
          <a:noFill/>
        </p:spPr>
        <p:txBody>
          <a:bodyPr wrap="square" lIns="45720" rIns="45720" anchor="t">
            <a:spAutoFit/>
          </a:bodyPr>
          <a:lstStyle/>
          <a:p>
            <a:pPr>
              <a:defRPr sz="1100" b="0">
                <a:solidFill>
                  <a:srgbClr val="CBD5E1"/>
                </a:solidFill>
                <a:latin typeface="Segoe UI"/>
              </a:defRPr>
            </a:pPr>
            <a:r>
              <a:t>3-second non-destructive screening. Flags hidden residue in hinges and serrations before instruments are wrapped in peel packs.</a:t>
            </a:r>
          </a:p>
        </p:txBody>
      </p:sp>
      <p:sp>
        <p:nvSpPr>
          <p:cNvPr id="28" name="Rounded Rectangle 27"/>
          <p:cNvSpPr/>
          <p:nvPr/>
        </p:nvSpPr>
        <p:spPr>
          <a:xfrm>
            <a:off x="9052560" y="1371600"/>
            <a:ext cx="2468880" cy="292608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189720" y="1508760"/>
            <a:ext cx="502920" cy="32004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89720" y="1536192"/>
            <a:ext cx="502920" cy="274320"/>
          </a:xfrm>
          <a:prstGeom prst="rect">
            <a:avLst/>
          </a:prstGeom>
          <a:noFill/>
        </p:spPr>
        <p:txBody>
          <a:bodyPr wrap="square" lIns="45720" rIns="45720" anchor="t">
            <a:spAutoFit/>
          </a:bodyPr>
          <a:lstStyle/>
          <a:p>
            <a:pPr algn="ctr">
              <a:defRPr sz="1200" b="1">
                <a:solidFill>
                  <a:srgbClr val="070F1E"/>
                </a:solidFill>
                <a:latin typeface="Segoe UI"/>
              </a:defRPr>
            </a:pPr>
            <a:r>
              <a:t>04</a:t>
            </a:r>
          </a:p>
        </p:txBody>
      </p:sp>
      <p:sp>
        <p:nvSpPr>
          <p:cNvPr id="31" name="TextBox 30"/>
          <p:cNvSpPr txBox="1"/>
          <p:nvPr/>
        </p:nvSpPr>
        <p:spPr>
          <a:xfrm>
            <a:off x="9784080" y="1508760"/>
            <a:ext cx="1600200" cy="365760"/>
          </a:xfrm>
          <a:prstGeom prst="rect">
            <a:avLst/>
          </a:prstGeom>
          <a:noFill/>
        </p:spPr>
        <p:txBody>
          <a:bodyPr wrap="square" lIns="45720" rIns="45720" anchor="t">
            <a:spAutoFit/>
          </a:bodyPr>
          <a:lstStyle/>
          <a:p>
            <a:pPr>
              <a:defRPr sz="1300" b="1">
                <a:solidFill>
                  <a:srgbClr val="F8FAFC"/>
                </a:solidFill>
                <a:latin typeface="Segoe UI"/>
              </a:defRPr>
            </a:pPr>
            <a:r>
              <a:t>Terminal Sterilization</a:t>
            </a:r>
          </a:p>
        </p:txBody>
      </p:sp>
      <p:sp>
        <p:nvSpPr>
          <p:cNvPr id="32" name="TextBox 31"/>
          <p:cNvSpPr txBox="1"/>
          <p:nvPr/>
        </p:nvSpPr>
        <p:spPr>
          <a:xfrm>
            <a:off x="9189720" y="1965960"/>
            <a:ext cx="2194560" cy="274320"/>
          </a:xfrm>
          <a:prstGeom prst="rect">
            <a:avLst/>
          </a:prstGeom>
          <a:noFill/>
        </p:spPr>
        <p:txBody>
          <a:bodyPr wrap="square" lIns="45720" rIns="45720" anchor="t">
            <a:spAutoFit/>
          </a:bodyPr>
          <a:lstStyle/>
          <a:p>
            <a:pPr>
              <a:defRPr sz="900" b="1">
                <a:solidFill>
                  <a:srgbClr val="94A3B8"/>
                </a:solidFill>
                <a:latin typeface="Segoe UI"/>
              </a:defRPr>
            </a:pPr>
            <a:r>
              <a:t>AUTOCLAVE CHAMBER</a:t>
            </a:r>
          </a:p>
        </p:txBody>
      </p:sp>
      <p:sp>
        <p:nvSpPr>
          <p:cNvPr id="33" name="Rectangle 32"/>
          <p:cNvSpPr/>
          <p:nvPr/>
        </p:nvSpPr>
        <p:spPr>
          <a:xfrm>
            <a:off x="9189720" y="2286000"/>
            <a:ext cx="219456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89720" y="2423160"/>
            <a:ext cx="2194560" cy="1691640"/>
          </a:xfrm>
          <a:prstGeom prst="rect">
            <a:avLst/>
          </a:prstGeom>
          <a:noFill/>
        </p:spPr>
        <p:txBody>
          <a:bodyPr wrap="square" lIns="45720" rIns="45720" anchor="t">
            <a:spAutoFit/>
          </a:bodyPr>
          <a:lstStyle/>
          <a:p>
            <a:pPr>
              <a:defRPr sz="1100" b="0">
                <a:solidFill>
                  <a:srgbClr val="CBD5E1"/>
                </a:solidFill>
                <a:latin typeface="Segoe UI"/>
              </a:defRPr>
            </a:pPr>
            <a:r>
              <a:t>Pressurized steam sterilization (134°C, 30 psi). Validated only for physically clean instruments free of organic soil.</a:t>
            </a:r>
          </a:p>
        </p:txBody>
      </p:sp>
      <p:cxnSp>
        <p:nvCxnSpPr>
          <p:cNvPr id="35" name="Connector 34"/>
          <p:cNvCxnSpPr/>
          <p:nvPr/>
        </p:nvCxnSpPr>
        <p:spPr>
          <a:xfrm>
            <a:off x="3182112" y="2743200"/>
            <a:ext cx="246888" cy="0"/>
          </a:xfrm>
          <a:prstGeom prst="line">
            <a:avLst/>
          </a:prstGeom>
          <a:ln w="25400">
            <a:solidFill>
              <a:srgbClr val="06B6D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971032" y="2743200"/>
            <a:ext cx="246888" cy="0"/>
          </a:xfrm>
          <a:prstGeom prst="line">
            <a:avLst/>
          </a:prstGeom>
          <a:ln w="3175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759952" y="2743200"/>
            <a:ext cx="246888" cy="0"/>
          </a:xfrm>
          <a:prstGeom prst="line">
            <a:avLst/>
          </a:prstGeom>
          <a:ln w="25400">
            <a:solidFill>
              <a:srgbClr val="06B6D4"/>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85800" y="4480560"/>
            <a:ext cx="10835640" cy="169164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4400" y="4617720"/>
            <a:ext cx="10378440" cy="320040"/>
          </a:xfrm>
          <a:prstGeom prst="rect">
            <a:avLst/>
          </a:prstGeom>
          <a:noFill/>
        </p:spPr>
        <p:txBody>
          <a:bodyPr wrap="square" lIns="45720" rIns="45720" anchor="t">
            <a:spAutoFit/>
          </a:bodyPr>
          <a:lstStyle/>
          <a:p>
            <a:pPr>
              <a:defRPr sz="1100" b="1">
                <a:solidFill>
                  <a:srgbClr val="06B6D4"/>
                </a:solidFill>
                <a:latin typeface="Segoe UI"/>
              </a:defRPr>
            </a:pPr>
            <a:r>
              <a:t>KEY COMPETITIVE ADVANTAGES OVER EXISTING HOSPITAL CLEANING TESTS</a:t>
            </a:r>
          </a:p>
        </p:txBody>
      </p:sp>
      <p:sp>
        <p:nvSpPr>
          <p:cNvPr id="40" name="TextBox 39"/>
          <p:cNvSpPr txBox="1"/>
          <p:nvPr/>
        </p:nvSpPr>
        <p:spPr>
          <a:xfrm>
            <a:off x="914400" y="4937760"/>
            <a:ext cx="10378440" cy="1143000"/>
          </a:xfrm>
          <a:prstGeom prst="rect">
            <a:avLst/>
          </a:prstGeom>
          <a:noFill/>
        </p:spPr>
        <p:txBody>
          <a:bodyPr wrap="square" lIns="36576" tIns="18288" rIns="36576" bIns="18288">
            <a:spAutoFit/>
          </a:bodyPr>
          <a:lstStyle/>
          <a:p>
            <a:pPr>
              <a:spcAft>
                <a:spcPts val="800"/>
              </a:spcAft>
              <a:defRPr sz="1100">
                <a:solidFill>
                  <a:srgbClr val="CBD5E1"/>
                </a:solidFill>
                <a:latin typeface="Segoe UI"/>
              </a:defRPr>
            </a:pPr>
            <a:r>
              <a:t>•  Non-Destructive &amp; Zero Consumables: Protein swab assays (ninhydrin, biuret) and ATP bioluminescence consume costly chemical reagents ($3–$8/test) and destroy sample traces. BloodTrace uses zero chemical consumables.</a:t>
            </a:r>
          </a:p>
          <a:p>
            <a:pPr>
              <a:spcAft>
                <a:spcPts val="800"/>
              </a:spcAft>
              <a:defRPr sz="1100">
                <a:solidFill>
                  <a:srgbClr val="CBD5E1"/>
                </a:solidFill>
                <a:latin typeface="Segoe UI"/>
              </a:defRPr>
            </a:pPr>
            <a:r>
              <a:t>•  Spatial Defect Localization: Chemical swabs only yield an aggregate pass/fail number without pinpointing location. BloodTrace maps the exact crevice, hinge, or serration requiring mechanical brush re-cleaning.</a:t>
            </a:r>
          </a:p>
          <a:p>
            <a:pPr>
              <a:spcAft>
                <a:spcPts val="800"/>
              </a:spcAft>
              <a:defRPr sz="1100">
                <a:solidFill>
                  <a:srgbClr val="CBD5E1"/>
                </a:solidFill>
                <a:latin typeface="Segoe UI"/>
              </a:defRPr>
            </a:pPr>
            <a:r>
              <a:t>•  Rapid Throughput: Operates in &lt; 3 seconds per instrument vs. 5–10 minute incubation for swab-based enzymatic reactions.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F1E"/>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10789920" cy="274320"/>
          </a:xfrm>
          <a:prstGeom prst="rect">
            <a:avLst/>
          </a:prstGeom>
          <a:noFill/>
        </p:spPr>
        <p:txBody>
          <a:bodyPr wrap="square" lIns="45720" rIns="45720" anchor="t">
            <a:spAutoFit/>
          </a:bodyPr>
          <a:lstStyle/>
          <a:p>
            <a:pPr>
              <a:defRPr sz="1100" b="1">
                <a:solidFill>
                  <a:srgbClr val="06B6D4"/>
                </a:solidFill>
                <a:latin typeface="Segoe UI"/>
              </a:defRPr>
            </a:pPr>
            <a:r>
              <a:t>OPTICAL PHYSICS &amp; METHODOLOGY</a:t>
            </a:r>
          </a:p>
        </p:txBody>
      </p:sp>
      <p:sp>
        <p:nvSpPr>
          <p:cNvPr id="3" name="TextBox 2"/>
          <p:cNvSpPr txBox="1"/>
          <p:nvPr/>
        </p:nvSpPr>
        <p:spPr>
          <a:xfrm>
            <a:off x="658368" y="594360"/>
            <a:ext cx="10789920" cy="502920"/>
          </a:xfrm>
          <a:prstGeom prst="rect">
            <a:avLst/>
          </a:prstGeom>
          <a:noFill/>
        </p:spPr>
        <p:txBody>
          <a:bodyPr wrap="square" lIns="45720" rIns="45720" anchor="t">
            <a:spAutoFit/>
          </a:bodyPr>
          <a:lstStyle/>
          <a:p>
            <a:pPr>
              <a:defRPr sz="2400" b="1">
                <a:solidFill>
                  <a:srgbClr val="F8FAFC"/>
                </a:solidFill>
                <a:latin typeface="Segoe UI"/>
              </a:defRPr>
            </a:pPr>
            <a:r>
              <a:t>Dual-Wavelength Differential Spectroscopy: Overcoming Single-Band Pitfalls</a:t>
            </a:r>
          </a:p>
        </p:txBody>
      </p:sp>
      <p:sp>
        <p:nvSpPr>
          <p:cNvPr id="5" name="TextBox 4"/>
          <p:cNvSpPr txBox="1"/>
          <p:nvPr/>
        </p:nvSpPr>
        <p:spPr>
          <a:xfrm>
            <a:off x="11155680" y="6446520"/>
            <a:ext cx="548640" cy="274320"/>
          </a:xfrm>
          <a:prstGeom prst="rect">
            <a:avLst/>
          </a:prstGeom>
          <a:noFill/>
        </p:spPr>
        <p:txBody>
          <a:bodyPr wrap="square" lIns="45720" rIns="45720" anchor="t">
            <a:spAutoFit/>
          </a:bodyPr>
          <a:lstStyle/>
          <a:p>
            <a:pPr algn="r">
              <a:defRPr sz="1000" b="0">
                <a:solidFill>
                  <a:srgbClr val="94A3B8"/>
                </a:solidFill>
                <a:latin typeface="Segoe UI"/>
              </a:defRPr>
            </a:pPr>
            <a:r>
              <a:t>04 / 09</a:t>
            </a:r>
          </a:p>
        </p:txBody>
      </p:sp>
      <p:sp>
        <p:nvSpPr>
          <p:cNvPr id="6" name="TextBox 5"/>
          <p:cNvSpPr txBox="1"/>
          <p:nvPr/>
        </p:nvSpPr>
        <p:spPr>
          <a:xfrm>
            <a:off x="685800" y="6446520"/>
            <a:ext cx="7315200" cy="274320"/>
          </a:xfrm>
          <a:prstGeom prst="rect">
            <a:avLst/>
          </a:prstGeom>
          <a:noFill/>
        </p:spPr>
        <p:txBody>
          <a:bodyPr wrap="square" lIns="45720" rIns="45720" anchor="t">
            <a:spAutoFit/>
          </a:bodyPr>
          <a:lstStyle/>
          <a:p>
            <a:pPr>
              <a:defRPr sz="900" b="0">
                <a:solidFill>
                  <a:srgbClr val="94A3B8"/>
                </a:solidFill>
                <a:latin typeface="Segoe UI"/>
              </a:defRPr>
            </a:pPr>
            <a:r>
              <a:t>BLOODTRACE™ — MNIT JAIPUR • DEVANSH LILA • CONFIDENTIAL &amp; PROPRIETARY</a:t>
            </a:r>
          </a:p>
        </p:txBody>
      </p:sp>
      <p:sp>
        <p:nvSpPr>
          <p:cNvPr id="7" name="Rounded Rectangle 6"/>
          <p:cNvSpPr/>
          <p:nvPr/>
        </p:nvSpPr>
        <p:spPr>
          <a:xfrm>
            <a:off x="685800" y="1371600"/>
            <a:ext cx="3429000" cy="2834640"/>
          </a:xfrm>
          <a:prstGeom prst="roundRect">
            <a:avLst/>
          </a:prstGeom>
          <a:solidFill>
            <a:srgbClr val="0F1B30"/>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08760"/>
            <a:ext cx="3063240" cy="320040"/>
          </a:xfrm>
          <a:prstGeom prst="rect">
            <a:avLst/>
          </a:prstGeom>
          <a:noFill/>
        </p:spPr>
        <p:txBody>
          <a:bodyPr wrap="square" lIns="45720" rIns="45720" anchor="t">
            <a:spAutoFit/>
          </a:bodyPr>
          <a:lstStyle/>
          <a:p>
            <a:pPr>
              <a:defRPr sz="1500" b="1">
                <a:solidFill>
                  <a:srgbClr val="A855F7"/>
                </a:solidFill>
                <a:latin typeface="Segoe UI"/>
              </a:defRPr>
            </a:pPr>
            <a:r>
              <a:t>365 nm UV-A Autofluorescence</a:t>
            </a:r>
          </a:p>
        </p:txBody>
      </p:sp>
      <p:sp>
        <p:nvSpPr>
          <p:cNvPr id="9" name="TextBox 8"/>
          <p:cNvSpPr txBox="1"/>
          <p:nvPr/>
        </p:nvSpPr>
        <p:spPr>
          <a:xfrm>
            <a:off x="868680" y="1828800"/>
            <a:ext cx="3063240" cy="228600"/>
          </a:xfrm>
          <a:prstGeom prst="rect">
            <a:avLst/>
          </a:prstGeom>
          <a:noFill/>
        </p:spPr>
        <p:txBody>
          <a:bodyPr wrap="square" lIns="45720" rIns="45720" anchor="t">
            <a:spAutoFit/>
          </a:bodyPr>
          <a:lstStyle/>
          <a:p>
            <a:pPr>
              <a:defRPr sz="900" b="1">
                <a:solidFill>
                  <a:srgbClr val="94A3B8"/>
                </a:solidFill>
                <a:latin typeface="Segoe UI"/>
              </a:defRPr>
            </a:pPr>
            <a:r>
              <a:t>EXCITATION OF NATIVE FLUOROPHORES</a:t>
            </a:r>
          </a:p>
        </p:txBody>
      </p:sp>
      <p:sp>
        <p:nvSpPr>
          <p:cNvPr id="10" name="Rectangle 9"/>
          <p:cNvSpPr/>
          <p:nvPr/>
        </p:nvSpPr>
        <p:spPr>
          <a:xfrm>
            <a:off x="868680" y="2148840"/>
            <a:ext cx="306324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68680" y="2286000"/>
            <a:ext cx="3063240" cy="1783080"/>
          </a:xfrm>
          <a:prstGeom prst="rect">
            <a:avLst/>
          </a:prstGeom>
          <a:noFill/>
        </p:spPr>
        <p:txBody>
          <a:bodyPr wrap="square" lIns="45720" rIns="45720" anchor="t">
            <a:spAutoFit/>
          </a:bodyPr>
          <a:lstStyle/>
          <a:p>
            <a:pPr>
              <a:defRPr sz="1200" b="0">
                <a:solidFill>
                  <a:srgbClr val="CBD5E1"/>
                </a:solidFill>
                <a:latin typeface="Segoe UI"/>
              </a:defRPr>
            </a:pPr>
            <a:r>
              <a:t>Excites cellular proteins, tryptophan, NADH, and porphyrins in organic bioburden, inducing secondary fluorescence emission in the 420–480 nm band. Clean passivated surgical stainless steel exhibits virtually zero autofluorescence.</a:t>
            </a:r>
          </a:p>
        </p:txBody>
      </p:sp>
      <p:sp>
        <p:nvSpPr>
          <p:cNvPr id="12" name="Rounded Rectangle 11"/>
          <p:cNvSpPr/>
          <p:nvPr/>
        </p:nvSpPr>
        <p:spPr>
          <a:xfrm>
            <a:off x="4389120" y="1371600"/>
            <a:ext cx="3429000" cy="2834640"/>
          </a:xfrm>
          <a:prstGeom prst="roundRect">
            <a:avLst/>
          </a:prstGeom>
          <a:solidFill>
            <a:srgbClr val="0F1B30"/>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1508760"/>
            <a:ext cx="3063240" cy="320040"/>
          </a:xfrm>
          <a:prstGeom prst="rect">
            <a:avLst/>
          </a:prstGeom>
          <a:noFill/>
        </p:spPr>
        <p:txBody>
          <a:bodyPr wrap="square" lIns="45720" rIns="45720" anchor="t">
            <a:spAutoFit/>
          </a:bodyPr>
          <a:lstStyle/>
          <a:p>
            <a:pPr>
              <a:defRPr sz="1500" b="1">
                <a:solidFill>
                  <a:srgbClr val="F43F5E"/>
                </a:solidFill>
                <a:latin typeface="Segoe UI"/>
              </a:defRPr>
            </a:pPr>
            <a:r>
              <a:t>850 nm NIR Absorption</a:t>
            </a:r>
          </a:p>
        </p:txBody>
      </p:sp>
      <p:sp>
        <p:nvSpPr>
          <p:cNvPr id="14" name="TextBox 13"/>
          <p:cNvSpPr txBox="1"/>
          <p:nvPr/>
        </p:nvSpPr>
        <p:spPr>
          <a:xfrm>
            <a:off x="4572000" y="1828800"/>
            <a:ext cx="3063240" cy="228600"/>
          </a:xfrm>
          <a:prstGeom prst="rect">
            <a:avLst/>
          </a:prstGeom>
          <a:noFill/>
        </p:spPr>
        <p:txBody>
          <a:bodyPr wrap="square" lIns="45720" rIns="45720" anchor="t">
            <a:spAutoFit/>
          </a:bodyPr>
          <a:lstStyle/>
          <a:p>
            <a:pPr>
              <a:defRPr sz="900" b="1">
                <a:solidFill>
                  <a:srgbClr val="94A3B8"/>
                </a:solidFill>
                <a:latin typeface="Segoe UI"/>
              </a:defRPr>
            </a:pPr>
            <a:r>
              <a:t>HEMOGLOBIN SPECTRAL SIGNATURE</a:t>
            </a:r>
          </a:p>
        </p:txBody>
      </p:sp>
      <p:sp>
        <p:nvSpPr>
          <p:cNvPr id="15" name="Rectangle 14"/>
          <p:cNvSpPr/>
          <p:nvPr/>
        </p:nvSpPr>
        <p:spPr>
          <a:xfrm>
            <a:off x="4572000" y="2148840"/>
            <a:ext cx="306324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0" y="2286000"/>
            <a:ext cx="3063240" cy="1783080"/>
          </a:xfrm>
          <a:prstGeom prst="rect">
            <a:avLst/>
          </a:prstGeom>
          <a:noFill/>
        </p:spPr>
        <p:txBody>
          <a:bodyPr wrap="square" lIns="45720" rIns="45720" anchor="t">
            <a:spAutoFit/>
          </a:bodyPr>
          <a:lstStyle/>
          <a:p>
            <a:pPr>
              <a:defRPr sz="1200" b="0">
                <a:solidFill>
                  <a:srgbClr val="CBD5E1"/>
                </a:solidFill>
                <a:latin typeface="Segoe UI"/>
              </a:defRPr>
            </a:pPr>
            <a:r>
              <a:t>Blood exhibits intense absorption peaks in the near-infrared band (700–900 nm) due to oxyhemoglobin and methemoglobin electronic transitions. Clean electropolished steel specularly reflects ~85% of 850 nm light, creating sharp contrast.</a:t>
            </a:r>
          </a:p>
        </p:txBody>
      </p:sp>
      <p:sp>
        <p:nvSpPr>
          <p:cNvPr id="17" name="Rounded Rectangle 16"/>
          <p:cNvSpPr/>
          <p:nvPr/>
        </p:nvSpPr>
        <p:spPr>
          <a:xfrm>
            <a:off x="8092440" y="1371600"/>
            <a:ext cx="3429000" cy="2834640"/>
          </a:xfrm>
          <a:prstGeom prst="roundRect">
            <a:avLst/>
          </a:prstGeom>
          <a:solidFill>
            <a:srgbClr val="0F1B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75319" y="1508760"/>
            <a:ext cx="3063240" cy="320040"/>
          </a:xfrm>
          <a:prstGeom prst="rect">
            <a:avLst/>
          </a:prstGeom>
          <a:noFill/>
        </p:spPr>
        <p:txBody>
          <a:bodyPr wrap="square" lIns="45720" rIns="45720" anchor="t">
            <a:spAutoFit/>
          </a:bodyPr>
          <a:lstStyle/>
          <a:p>
            <a:pPr>
              <a:defRPr sz="1500" b="1">
                <a:solidFill>
                  <a:srgbClr val="06B6D4"/>
                </a:solidFill>
                <a:latin typeface="Segoe UI"/>
              </a:defRPr>
            </a:pPr>
            <a:r>
              <a:t>Normalized Difference Index (NDI)</a:t>
            </a:r>
          </a:p>
        </p:txBody>
      </p:sp>
      <p:sp>
        <p:nvSpPr>
          <p:cNvPr id="19" name="TextBox 18"/>
          <p:cNvSpPr txBox="1"/>
          <p:nvPr/>
        </p:nvSpPr>
        <p:spPr>
          <a:xfrm>
            <a:off x="8855423" y="1805940"/>
            <a:ext cx="3063240" cy="228600"/>
          </a:xfrm>
          <a:prstGeom prst="rect">
            <a:avLst/>
          </a:prstGeom>
          <a:noFill/>
        </p:spPr>
        <p:txBody>
          <a:bodyPr wrap="square" lIns="45720" rIns="45720" anchor="t">
            <a:spAutoFit/>
          </a:bodyPr>
          <a:lstStyle/>
          <a:p>
            <a:pPr>
              <a:defRPr sz="900" b="1">
                <a:solidFill>
                  <a:srgbClr val="94A3B8"/>
                </a:solidFill>
                <a:latin typeface="Segoe UI"/>
              </a:defRPr>
            </a:pPr>
            <a:r>
              <a:rPr dirty="0"/>
              <a:t>DIFFERENTIAL PIXEL SUBTRACTION</a:t>
            </a:r>
          </a:p>
        </p:txBody>
      </p:sp>
      <p:sp>
        <p:nvSpPr>
          <p:cNvPr id="20" name="Rectangle 19"/>
          <p:cNvSpPr/>
          <p:nvPr/>
        </p:nvSpPr>
        <p:spPr>
          <a:xfrm>
            <a:off x="8275319" y="2148840"/>
            <a:ext cx="306324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5319" y="2286000"/>
            <a:ext cx="3063240" cy="1783080"/>
          </a:xfrm>
          <a:prstGeom prst="rect">
            <a:avLst/>
          </a:prstGeom>
          <a:noFill/>
        </p:spPr>
        <p:txBody>
          <a:bodyPr wrap="square" lIns="45720" rIns="45720" anchor="t">
            <a:spAutoFit/>
          </a:bodyPr>
          <a:lstStyle/>
          <a:p>
            <a:pPr>
              <a:defRPr sz="1200" b="0">
                <a:solidFill>
                  <a:srgbClr val="CBD5E1"/>
                </a:solidFill>
                <a:latin typeface="Segoe UI"/>
              </a:defRPr>
            </a:pPr>
            <a:r>
              <a:t>Single-band UV suffers false positives from lint, detergent residues, and rust. Cross-correlating UV emission with NIR absorption ratio isolates true biological coagulum and cancels ambient glare and surface finish variations.</a:t>
            </a:r>
          </a:p>
        </p:txBody>
      </p:sp>
      <p:sp>
        <p:nvSpPr>
          <p:cNvPr id="22" name="Rounded Rectangle 21"/>
          <p:cNvSpPr/>
          <p:nvPr/>
        </p:nvSpPr>
        <p:spPr>
          <a:xfrm>
            <a:off x="685800" y="4389120"/>
            <a:ext cx="10835640" cy="178308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526280"/>
            <a:ext cx="10378440" cy="320040"/>
          </a:xfrm>
          <a:prstGeom prst="rect">
            <a:avLst/>
          </a:prstGeom>
          <a:noFill/>
        </p:spPr>
        <p:txBody>
          <a:bodyPr wrap="square" lIns="45720" rIns="45720" anchor="t">
            <a:spAutoFit/>
          </a:bodyPr>
          <a:lstStyle/>
          <a:p>
            <a:pPr>
              <a:defRPr sz="1100" b="1">
                <a:solidFill>
                  <a:srgbClr val="06B6D4"/>
                </a:solidFill>
                <a:latin typeface="Segoe UI"/>
              </a:defRPr>
            </a:pPr>
            <a:r>
              <a:t>NORMALIZED DIFFERENTIAL MULTI-SPECTRAL EQUATION &amp; OPTICAL PIPELINE</a:t>
            </a:r>
          </a:p>
        </p:txBody>
      </p:sp>
      <p:sp>
        <p:nvSpPr>
          <p:cNvPr id="24" name="TextBox 23"/>
          <p:cNvSpPr txBox="1"/>
          <p:nvPr/>
        </p:nvSpPr>
        <p:spPr>
          <a:xfrm>
            <a:off x="914400" y="4892040"/>
            <a:ext cx="2468880" cy="274320"/>
          </a:xfrm>
          <a:prstGeom prst="rect">
            <a:avLst/>
          </a:prstGeom>
          <a:noFill/>
        </p:spPr>
        <p:txBody>
          <a:bodyPr wrap="square" lIns="45720" rIns="45720" anchor="t">
            <a:spAutoFit/>
          </a:bodyPr>
          <a:lstStyle/>
          <a:p>
            <a:pPr>
              <a:defRPr sz="1300" b="1">
                <a:solidFill>
                  <a:srgbClr val="22D3EE"/>
                </a:solidFill>
                <a:latin typeface="Segoe UI"/>
              </a:defRPr>
            </a:pPr>
            <a:r>
              <a:t>Step 1: Strobe</a:t>
            </a:r>
          </a:p>
        </p:txBody>
      </p:sp>
      <p:sp>
        <p:nvSpPr>
          <p:cNvPr id="25" name="TextBox 24"/>
          <p:cNvSpPr txBox="1"/>
          <p:nvPr/>
        </p:nvSpPr>
        <p:spPr>
          <a:xfrm>
            <a:off x="914400" y="5212080"/>
            <a:ext cx="2468880" cy="822960"/>
          </a:xfrm>
          <a:prstGeom prst="rect">
            <a:avLst/>
          </a:prstGeom>
          <a:noFill/>
        </p:spPr>
        <p:txBody>
          <a:bodyPr wrap="square" lIns="45720" rIns="45720" anchor="t">
            <a:spAutoFit/>
          </a:bodyPr>
          <a:lstStyle/>
          <a:p>
            <a:pPr>
              <a:defRPr sz="1100" b="0">
                <a:solidFill>
                  <a:srgbClr val="CBD5E1"/>
                </a:solidFill>
                <a:latin typeface="Segoe UI"/>
              </a:defRPr>
            </a:pPr>
            <a:r>
              <a:t>Arduino switches 365nm UV then 850nm NIR LEDs via low-side MOSFETs.</a:t>
            </a:r>
          </a:p>
        </p:txBody>
      </p:sp>
      <p:cxnSp>
        <p:nvCxnSpPr>
          <p:cNvPr id="26" name="Connector 25"/>
          <p:cNvCxnSpPr/>
          <p:nvPr/>
        </p:nvCxnSpPr>
        <p:spPr>
          <a:xfrm>
            <a:off x="3246120" y="5303520"/>
            <a:ext cx="182880" cy="0"/>
          </a:xfrm>
          <a:prstGeom prst="line">
            <a:avLst/>
          </a:prstGeom>
          <a:ln w="19050">
            <a:solidFill>
              <a:srgbClr val="06B6D4"/>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520440" y="4892040"/>
            <a:ext cx="2468880" cy="274320"/>
          </a:xfrm>
          <a:prstGeom prst="rect">
            <a:avLst/>
          </a:prstGeom>
          <a:noFill/>
        </p:spPr>
        <p:txBody>
          <a:bodyPr wrap="square" lIns="45720" rIns="45720" anchor="t">
            <a:spAutoFit/>
          </a:bodyPr>
          <a:lstStyle/>
          <a:p>
            <a:pPr>
              <a:defRPr sz="1300" b="1">
                <a:solidFill>
                  <a:srgbClr val="22D3EE"/>
                </a:solidFill>
                <a:latin typeface="Segoe UI"/>
              </a:defRPr>
            </a:pPr>
            <a:r>
              <a:t>Step 2: Capture</a:t>
            </a:r>
          </a:p>
        </p:txBody>
      </p:sp>
      <p:sp>
        <p:nvSpPr>
          <p:cNvPr id="28" name="TextBox 27"/>
          <p:cNvSpPr txBox="1"/>
          <p:nvPr/>
        </p:nvSpPr>
        <p:spPr>
          <a:xfrm>
            <a:off x="3520440" y="5212080"/>
            <a:ext cx="2468880" cy="822960"/>
          </a:xfrm>
          <a:prstGeom prst="rect">
            <a:avLst/>
          </a:prstGeom>
          <a:noFill/>
        </p:spPr>
        <p:txBody>
          <a:bodyPr wrap="square" lIns="45720" rIns="45720" anchor="t">
            <a:spAutoFit/>
          </a:bodyPr>
          <a:lstStyle/>
          <a:p>
            <a:pPr>
              <a:defRPr sz="1100" b="0">
                <a:solidFill>
                  <a:srgbClr val="CBD5E1"/>
                </a:solidFill>
                <a:latin typeface="Segoe UI"/>
              </a:defRPr>
            </a:pPr>
            <a:r>
              <a:t>CMOS USB camera acquires aligned frames; BPW34 photodiode logs total flux.</a:t>
            </a:r>
          </a:p>
        </p:txBody>
      </p:sp>
      <p:cxnSp>
        <p:nvCxnSpPr>
          <p:cNvPr id="29" name="Connector 28"/>
          <p:cNvCxnSpPr/>
          <p:nvPr/>
        </p:nvCxnSpPr>
        <p:spPr>
          <a:xfrm>
            <a:off x="5852160" y="5303520"/>
            <a:ext cx="182880" cy="0"/>
          </a:xfrm>
          <a:prstGeom prst="line">
            <a:avLst/>
          </a:prstGeom>
          <a:ln w="19050">
            <a:solidFill>
              <a:srgbClr val="06B6D4"/>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126480" y="4892040"/>
            <a:ext cx="2468880" cy="274320"/>
          </a:xfrm>
          <a:prstGeom prst="rect">
            <a:avLst/>
          </a:prstGeom>
          <a:noFill/>
        </p:spPr>
        <p:txBody>
          <a:bodyPr wrap="square" lIns="45720" rIns="45720" anchor="t">
            <a:spAutoFit/>
          </a:bodyPr>
          <a:lstStyle/>
          <a:p>
            <a:pPr>
              <a:defRPr sz="1300" b="1">
                <a:solidFill>
                  <a:srgbClr val="22D3EE"/>
                </a:solidFill>
                <a:latin typeface="Segoe UI"/>
              </a:defRPr>
            </a:pPr>
            <a:r>
              <a:t>Step 3: Compute NDI</a:t>
            </a:r>
          </a:p>
        </p:txBody>
      </p:sp>
      <p:sp>
        <p:nvSpPr>
          <p:cNvPr id="31" name="TextBox 30"/>
          <p:cNvSpPr txBox="1"/>
          <p:nvPr/>
        </p:nvSpPr>
        <p:spPr>
          <a:xfrm>
            <a:off x="6126480" y="5212080"/>
            <a:ext cx="2468880" cy="822960"/>
          </a:xfrm>
          <a:prstGeom prst="rect">
            <a:avLst/>
          </a:prstGeom>
          <a:noFill/>
        </p:spPr>
        <p:txBody>
          <a:bodyPr wrap="square" lIns="45720" rIns="45720" anchor="t">
            <a:spAutoFit/>
          </a:bodyPr>
          <a:lstStyle/>
          <a:p>
            <a:pPr>
              <a:defRPr sz="1100" b="0">
                <a:solidFill>
                  <a:srgbClr val="CBD5E1"/>
                </a:solidFill>
                <a:latin typeface="Segoe UI"/>
              </a:defRPr>
            </a:pPr>
            <a:r>
              <a:t>NDI = (I_UV - I_NIR) / (I_UV + I_NIR + ε) computed per pixel.</a:t>
            </a:r>
          </a:p>
        </p:txBody>
      </p:sp>
      <p:cxnSp>
        <p:nvCxnSpPr>
          <p:cNvPr id="32" name="Connector 31"/>
          <p:cNvCxnSpPr/>
          <p:nvPr/>
        </p:nvCxnSpPr>
        <p:spPr>
          <a:xfrm>
            <a:off x="8458200" y="5303520"/>
            <a:ext cx="182880" cy="0"/>
          </a:xfrm>
          <a:prstGeom prst="line">
            <a:avLst/>
          </a:prstGeom>
          <a:ln w="19050">
            <a:solidFill>
              <a:srgbClr val="06B6D4"/>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732520" y="4892040"/>
            <a:ext cx="2468880" cy="274320"/>
          </a:xfrm>
          <a:prstGeom prst="rect">
            <a:avLst/>
          </a:prstGeom>
          <a:noFill/>
        </p:spPr>
        <p:txBody>
          <a:bodyPr wrap="square" lIns="45720" rIns="45720" anchor="t">
            <a:spAutoFit/>
          </a:bodyPr>
          <a:lstStyle/>
          <a:p>
            <a:pPr>
              <a:defRPr sz="1300" b="1">
                <a:solidFill>
                  <a:srgbClr val="22D3EE"/>
                </a:solidFill>
                <a:latin typeface="Segoe UI"/>
              </a:defRPr>
            </a:pPr>
            <a:r>
              <a:t>Step 4: Segment</a:t>
            </a:r>
          </a:p>
        </p:txBody>
      </p:sp>
      <p:sp>
        <p:nvSpPr>
          <p:cNvPr id="34" name="TextBox 33"/>
          <p:cNvSpPr txBox="1"/>
          <p:nvPr/>
        </p:nvSpPr>
        <p:spPr>
          <a:xfrm>
            <a:off x="8732520" y="5212080"/>
            <a:ext cx="2468880" cy="822960"/>
          </a:xfrm>
          <a:prstGeom prst="rect">
            <a:avLst/>
          </a:prstGeom>
          <a:noFill/>
        </p:spPr>
        <p:txBody>
          <a:bodyPr wrap="square" lIns="45720" rIns="45720" anchor="t">
            <a:spAutoFit/>
          </a:bodyPr>
          <a:lstStyle/>
          <a:p>
            <a:pPr>
              <a:defRPr sz="1100" b="0">
                <a:solidFill>
                  <a:srgbClr val="CBD5E1"/>
                </a:solidFill>
                <a:latin typeface="Segoe UI"/>
              </a:defRPr>
            </a:pPr>
            <a:r>
              <a:t>Adaptive Otsu threshold + morphological opening yields candidate contours.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F1E"/>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10789920" cy="274320"/>
          </a:xfrm>
          <a:prstGeom prst="rect">
            <a:avLst/>
          </a:prstGeom>
          <a:noFill/>
        </p:spPr>
        <p:txBody>
          <a:bodyPr wrap="square" lIns="45720" rIns="45720" anchor="t">
            <a:spAutoFit/>
          </a:bodyPr>
          <a:lstStyle/>
          <a:p>
            <a:pPr>
              <a:defRPr sz="1100" b="1">
                <a:solidFill>
                  <a:srgbClr val="06B6D4"/>
                </a:solidFill>
                <a:latin typeface="Segoe UI"/>
              </a:defRPr>
            </a:pPr>
            <a:r>
              <a:t>HARDWARE &amp; ELECTRICAL ENGINEERING</a:t>
            </a:r>
          </a:p>
        </p:txBody>
      </p:sp>
      <p:sp>
        <p:nvSpPr>
          <p:cNvPr id="3" name="TextBox 2"/>
          <p:cNvSpPr txBox="1"/>
          <p:nvPr/>
        </p:nvSpPr>
        <p:spPr>
          <a:xfrm>
            <a:off x="658368" y="594360"/>
            <a:ext cx="10789920" cy="502920"/>
          </a:xfrm>
          <a:prstGeom prst="rect">
            <a:avLst/>
          </a:prstGeom>
          <a:noFill/>
        </p:spPr>
        <p:txBody>
          <a:bodyPr wrap="square" lIns="45720" rIns="45720" anchor="t">
            <a:spAutoFit/>
          </a:bodyPr>
          <a:lstStyle/>
          <a:p>
            <a:pPr>
              <a:defRPr sz="2400" b="1">
                <a:solidFill>
                  <a:srgbClr val="F8FAFC"/>
                </a:solidFill>
                <a:latin typeface="Segoe UI"/>
              </a:defRPr>
            </a:pPr>
            <a:r>
              <a:t>Embedded Architecture, Circuit Interconnects &amp; Bill of Materials</a:t>
            </a:r>
          </a:p>
        </p:txBody>
      </p:sp>
      <p:sp>
        <p:nvSpPr>
          <p:cNvPr id="4" name="Rectangle 3"/>
          <p:cNvSpPr/>
          <p:nvPr/>
        </p:nvSpPr>
        <p:spPr>
          <a:xfrm>
            <a:off x="685800" y="1115568"/>
            <a:ext cx="7772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548640" cy="274320"/>
          </a:xfrm>
          <a:prstGeom prst="rect">
            <a:avLst/>
          </a:prstGeom>
          <a:noFill/>
        </p:spPr>
        <p:txBody>
          <a:bodyPr wrap="square" lIns="45720" rIns="45720" anchor="t">
            <a:spAutoFit/>
          </a:bodyPr>
          <a:lstStyle/>
          <a:p>
            <a:pPr algn="r">
              <a:defRPr sz="1000" b="0">
                <a:solidFill>
                  <a:srgbClr val="94A3B8"/>
                </a:solidFill>
                <a:latin typeface="Segoe UI"/>
              </a:defRPr>
            </a:pPr>
            <a:r>
              <a:t>05 / 09</a:t>
            </a:r>
          </a:p>
        </p:txBody>
      </p:sp>
      <p:sp>
        <p:nvSpPr>
          <p:cNvPr id="6" name="TextBox 5"/>
          <p:cNvSpPr txBox="1"/>
          <p:nvPr/>
        </p:nvSpPr>
        <p:spPr>
          <a:xfrm>
            <a:off x="685800" y="6446520"/>
            <a:ext cx="7315200" cy="274320"/>
          </a:xfrm>
          <a:prstGeom prst="rect">
            <a:avLst/>
          </a:prstGeom>
          <a:noFill/>
        </p:spPr>
        <p:txBody>
          <a:bodyPr wrap="square" lIns="45720" rIns="45720" anchor="t">
            <a:spAutoFit/>
          </a:bodyPr>
          <a:lstStyle/>
          <a:p>
            <a:pPr>
              <a:defRPr sz="900" b="0">
                <a:solidFill>
                  <a:srgbClr val="94A3B8"/>
                </a:solidFill>
                <a:latin typeface="Segoe UI"/>
              </a:defRPr>
            </a:pPr>
            <a:r>
              <a:t>BLOODTRACE™ — MNIT JAIPUR • DEVANSH LILA • CONFIDENTIAL &amp; PROPRIETARY</a:t>
            </a:r>
          </a:p>
        </p:txBody>
      </p:sp>
      <p:sp>
        <p:nvSpPr>
          <p:cNvPr id="7" name="Rounded Rectangle 6"/>
          <p:cNvSpPr/>
          <p:nvPr/>
        </p:nvSpPr>
        <p:spPr>
          <a:xfrm>
            <a:off x="685800" y="1371600"/>
            <a:ext cx="5486400" cy="480060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75360" y="1536192"/>
            <a:ext cx="5120640" cy="320040"/>
          </a:xfrm>
          <a:prstGeom prst="rect">
            <a:avLst/>
          </a:prstGeom>
          <a:noFill/>
        </p:spPr>
        <p:txBody>
          <a:bodyPr wrap="square" lIns="45720" rIns="45720" anchor="t">
            <a:spAutoFit/>
          </a:bodyPr>
          <a:lstStyle/>
          <a:p>
            <a:pPr>
              <a:defRPr sz="1300" b="1">
                <a:solidFill>
                  <a:srgbClr val="06B6D4"/>
                </a:solidFill>
                <a:latin typeface="Segoe UI"/>
              </a:defRPr>
            </a:pPr>
            <a:r>
              <a:rPr dirty="0"/>
              <a:t>EMBEDDED HARDWARE SUBSYSTEMS</a:t>
            </a:r>
          </a:p>
        </p:txBody>
      </p:sp>
      <p:sp>
        <p:nvSpPr>
          <p:cNvPr id="9" name="TextBox 8"/>
          <p:cNvSpPr txBox="1"/>
          <p:nvPr/>
        </p:nvSpPr>
        <p:spPr>
          <a:xfrm>
            <a:off x="868680" y="1874519"/>
            <a:ext cx="5120640" cy="256032"/>
          </a:xfrm>
          <a:prstGeom prst="rect">
            <a:avLst/>
          </a:prstGeom>
          <a:noFill/>
        </p:spPr>
        <p:txBody>
          <a:bodyPr wrap="square" lIns="45720" rIns="45720" anchor="t">
            <a:spAutoFit/>
          </a:bodyPr>
          <a:lstStyle/>
          <a:p>
            <a:pPr>
              <a:defRPr sz="1200" b="1">
                <a:solidFill>
                  <a:srgbClr val="22D3EE"/>
                </a:solidFill>
                <a:latin typeface="Segoe UI"/>
              </a:defRPr>
            </a:pPr>
            <a:r>
              <a:t>•  Arduino UNO R4 Minima</a:t>
            </a:r>
          </a:p>
        </p:txBody>
      </p:sp>
      <p:sp>
        <p:nvSpPr>
          <p:cNvPr id="10" name="TextBox 9"/>
          <p:cNvSpPr txBox="1"/>
          <p:nvPr/>
        </p:nvSpPr>
        <p:spPr>
          <a:xfrm>
            <a:off x="1051560" y="2130552"/>
            <a:ext cx="4937760" cy="502920"/>
          </a:xfrm>
          <a:prstGeom prst="rect">
            <a:avLst/>
          </a:prstGeom>
          <a:noFill/>
        </p:spPr>
        <p:txBody>
          <a:bodyPr wrap="square" lIns="45720" rIns="45720" anchor="t">
            <a:spAutoFit/>
          </a:bodyPr>
          <a:lstStyle/>
          <a:p>
            <a:pPr>
              <a:defRPr sz="1100" b="0">
                <a:solidFill>
                  <a:srgbClr val="CBD5E1"/>
                </a:solidFill>
                <a:latin typeface="Segoe UI"/>
              </a:defRPr>
            </a:pPr>
            <a:r>
              <a:t>Renesas RA4M1 32-bit ARM Cortex-M4 @ 48 MHz with 14-bit ADC resolution; coordinates LED microsecond strobing and telemetric USB serial streaming.</a:t>
            </a:r>
          </a:p>
        </p:txBody>
      </p:sp>
      <p:sp>
        <p:nvSpPr>
          <p:cNvPr id="11" name="TextBox 10"/>
          <p:cNvSpPr txBox="1"/>
          <p:nvPr/>
        </p:nvSpPr>
        <p:spPr>
          <a:xfrm>
            <a:off x="868680" y="2697479"/>
            <a:ext cx="5120640" cy="256032"/>
          </a:xfrm>
          <a:prstGeom prst="rect">
            <a:avLst/>
          </a:prstGeom>
          <a:noFill/>
        </p:spPr>
        <p:txBody>
          <a:bodyPr wrap="square" lIns="45720" rIns="45720" anchor="t">
            <a:spAutoFit/>
          </a:bodyPr>
          <a:lstStyle/>
          <a:p>
            <a:pPr>
              <a:defRPr sz="1200" b="1">
                <a:solidFill>
                  <a:srgbClr val="22D3EE"/>
                </a:solidFill>
                <a:latin typeface="Segoe UI"/>
              </a:defRPr>
            </a:pPr>
            <a:r>
              <a:t>•  UV Illumination Channel</a:t>
            </a:r>
          </a:p>
        </p:txBody>
      </p:sp>
      <p:sp>
        <p:nvSpPr>
          <p:cNvPr id="12" name="TextBox 11"/>
          <p:cNvSpPr txBox="1"/>
          <p:nvPr/>
        </p:nvSpPr>
        <p:spPr>
          <a:xfrm>
            <a:off x="1051560" y="2953511"/>
            <a:ext cx="4937760" cy="502920"/>
          </a:xfrm>
          <a:prstGeom prst="rect">
            <a:avLst/>
          </a:prstGeom>
          <a:noFill/>
        </p:spPr>
        <p:txBody>
          <a:bodyPr wrap="square" lIns="45720" rIns="45720" anchor="t">
            <a:spAutoFit/>
          </a:bodyPr>
          <a:lstStyle/>
          <a:p>
            <a:pPr>
              <a:defRPr sz="1100" b="0">
                <a:solidFill>
                  <a:srgbClr val="CBD5E1"/>
                </a:solidFill>
                <a:latin typeface="Segoe UI"/>
              </a:defRPr>
            </a:pPr>
            <a:r>
              <a:t>High-power 365 nm UV-A LED driven via Pin D9 using AO3400 logic-level N-MOSFET (1 kΩ gate resistor, 10 kΩ pulldown to prevent floating gate during boot).</a:t>
            </a:r>
          </a:p>
        </p:txBody>
      </p:sp>
      <p:sp>
        <p:nvSpPr>
          <p:cNvPr id="13" name="TextBox 12"/>
          <p:cNvSpPr txBox="1"/>
          <p:nvPr/>
        </p:nvSpPr>
        <p:spPr>
          <a:xfrm>
            <a:off x="868680" y="3520439"/>
            <a:ext cx="5120640" cy="256032"/>
          </a:xfrm>
          <a:prstGeom prst="rect">
            <a:avLst/>
          </a:prstGeom>
          <a:noFill/>
        </p:spPr>
        <p:txBody>
          <a:bodyPr wrap="square" lIns="45720" rIns="45720" anchor="t">
            <a:spAutoFit/>
          </a:bodyPr>
          <a:lstStyle/>
          <a:p>
            <a:pPr>
              <a:defRPr sz="1200" b="1">
                <a:solidFill>
                  <a:srgbClr val="22D3EE"/>
                </a:solidFill>
                <a:latin typeface="Segoe UI"/>
              </a:defRPr>
            </a:pPr>
            <a:r>
              <a:t>•  NIR Illumination Channel</a:t>
            </a:r>
          </a:p>
        </p:txBody>
      </p:sp>
      <p:sp>
        <p:nvSpPr>
          <p:cNvPr id="14" name="TextBox 13"/>
          <p:cNvSpPr txBox="1"/>
          <p:nvPr/>
        </p:nvSpPr>
        <p:spPr>
          <a:xfrm>
            <a:off x="1051560" y="3776472"/>
            <a:ext cx="4937760" cy="502920"/>
          </a:xfrm>
          <a:prstGeom prst="rect">
            <a:avLst/>
          </a:prstGeom>
          <a:noFill/>
        </p:spPr>
        <p:txBody>
          <a:bodyPr wrap="square" lIns="45720" rIns="45720" anchor="t">
            <a:spAutoFit/>
          </a:bodyPr>
          <a:lstStyle/>
          <a:p>
            <a:pPr>
              <a:defRPr sz="1100" b="0">
                <a:solidFill>
                  <a:srgbClr val="CBD5E1"/>
                </a:solidFill>
                <a:latin typeface="Segoe UI"/>
              </a:defRPr>
            </a:pPr>
            <a:r>
              <a:t>Dual 850 nm NIR LEDs driven via Pin D10 using AO3400 N-MOSFET with precision current-limiting ballast resistors (V_drop = 1.6V @ 100mA).</a:t>
            </a:r>
          </a:p>
        </p:txBody>
      </p:sp>
      <p:sp>
        <p:nvSpPr>
          <p:cNvPr id="15" name="TextBox 14"/>
          <p:cNvSpPr txBox="1"/>
          <p:nvPr/>
        </p:nvSpPr>
        <p:spPr>
          <a:xfrm>
            <a:off x="868680" y="4343400"/>
            <a:ext cx="5120640" cy="256032"/>
          </a:xfrm>
          <a:prstGeom prst="rect">
            <a:avLst/>
          </a:prstGeom>
          <a:noFill/>
        </p:spPr>
        <p:txBody>
          <a:bodyPr wrap="square" lIns="45720" rIns="45720" anchor="t">
            <a:spAutoFit/>
          </a:bodyPr>
          <a:lstStyle/>
          <a:p>
            <a:pPr>
              <a:defRPr sz="1200" b="1">
                <a:solidFill>
                  <a:srgbClr val="22D3EE"/>
                </a:solidFill>
                <a:latin typeface="Segoe UI"/>
              </a:defRPr>
            </a:pPr>
            <a:r>
              <a:t>•  Single-Point Optical Sensor</a:t>
            </a:r>
          </a:p>
        </p:txBody>
      </p:sp>
      <p:sp>
        <p:nvSpPr>
          <p:cNvPr id="16" name="TextBox 15"/>
          <p:cNvSpPr txBox="1"/>
          <p:nvPr/>
        </p:nvSpPr>
        <p:spPr>
          <a:xfrm>
            <a:off x="1051560" y="4599432"/>
            <a:ext cx="4937760" cy="502920"/>
          </a:xfrm>
          <a:prstGeom prst="rect">
            <a:avLst/>
          </a:prstGeom>
          <a:noFill/>
        </p:spPr>
        <p:txBody>
          <a:bodyPr wrap="square" lIns="45720" rIns="45720" anchor="t">
            <a:spAutoFit/>
          </a:bodyPr>
          <a:lstStyle/>
          <a:p>
            <a:pPr>
              <a:defRPr sz="1100" b="0">
                <a:solidFill>
                  <a:srgbClr val="CBD5E1"/>
                </a:solidFill>
                <a:latin typeface="Segoe UI"/>
              </a:defRPr>
            </a:pPr>
            <a:r>
              <a:t>BPW34 silicon PIN photodiode coupled to high-speed transimpedance amplifier module on Analog Pin A0 (Measures aggregate reflected light flux).</a:t>
            </a:r>
          </a:p>
        </p:txBody>
      </p:sp>
      <p:sp>
        <p:nvSpPr>
          <p:cNvPr id="17" name="TextBox 16"/>
          <p:cNvSpPr txBox="1"/>
          <p:nvPr/>
        </p:nvSpPr>
        <p:spPr>
          <a:xfrm>
            <a:off x="868680" y="5166360"/>
            <a:ext cx="5120640" cy="256032"/>
          </a:xfrm>
          <a:prstGeom prst="rect">
            <a:avLst/>
          </a:prstGeom>
          <a:noFill/>
        </p:spPr>
        <p:txBody>
          <a:bodyPr wrap="square" lIns="45720" rIns="45720" anchor="t">
            <a:spAutoFit/>
          </a:bodyPr>
          <a:lstStyle/>
          <a:p>
            <a:pPr>
              <a:defRPr sz="1200" b="1">
                <a:solidFill>
                  <a:srgbClr val="22D3EE"/>
                </a:solidFill>
                <a:latin typeface="Segoe UI"/>
              </a:defRPr>
            </a:pPr>
            <a:r>
              <a:t>•  Spatial Image Acquisition</a:t>
            </a:r>
          </a:p>
        </p:txBody>
      </p:sp>
      <p:sp>
        <p:nvSpPr>
          <p:cNvPr id="18" name="TextBox 17"/>
          <p:cNvSpPr txBox="1"/>
          <p:nvPr/>
        </p:nvSpPr>
        <p:spPr>
          <a:xfrm>
            <a:off x="1051560" y="5422392"/>
            <a:ext cx="4937760" cy="502920"/>
          </a:xfrm>
          <a:prstGeom prst="rect">
            <a:avLst/>
          </a:prstGeom>
          <a:noFill/>
        </p:spPr>
        <p:txBody>
          <a:bodyPr wrap="square" lIns="45720" rIns="45720" anchor="t">
            <a:spAutoFit/>
          </a:bodyPr>
          <a:lstStyle/>
          <a:p>
            <a:pPr>
              <a:defRPr sz="1100" b="0">
                <a:solidFill>
                  <a:srgbClr val="CBD5E1"/>
                </a:solidFill>
                <a:latin typeface="Segoe UI"/>
              </a:defRPr>
            </a:pPr>
            <a:r>
              <a:t>USB CMOS camera with IR-cut filter removed; sends uncompressed video frames directly to host laptop (never loaded onto microcontroller memory).</a:t>
            </a:r>
          </a:p>
        </p:txBody>
      </p:sp>
      <p:sp>
        <p:nvSpPr>
          <p:cNvPr id="19" name="Rounded Rectangle 18"/>
          <p:cNvSpPr/>
          <p:nvPr/>
        </p:nvSpPr>
        <p:spPr>
          <a:xfrm>
            <a:off x="6355080" y="1371600"/>
            <a:ext cx="5166360" cy="480060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50683" y="1485900"/>
            <a:ext cx="4800600" cy="320040"/>
          </a:xfrm>
          <a:prstGeom prst="rect">
            <a:avLst/>
          </a:prstGeom>
          <a:noFill/>
        </p:spPr>
        <p:txBody>
          <a:bodyPr wrap="square" lIns="45720" rIns="45720" anchor="t">
            <a:spAutoFit/>
          </a:bodyPr>
          <a:lstStyle/>
          <a:p>
            <a:pPr>
              <a:defRPr sz="1300" b="1">
                <a:solidFill>
                  <a:srgbClr val="06B6D4"/>
                </a:solidFill>
                <a:latin typeface="Segoe UI"/>
              </a:defRPr>
            </a:pPr>
            <a:r>
              <a:t>PINOUT INTERCONNECT MATRIX</a:t>
            </a:r>
          </a:p>
        </p:txBody>
      </p:sp>
      <p:graphicFrame>
        <p:nvGraphicFramePr>
          <p:cNvPr id="21" name="Table 20"/>
          <p:cNvGraphicFramePr>
            <a:graphicFrameLocks noGrp="1"/>
          </p:cNvGraphicFramePr>
          <p:nvPr/>
        </p:nvGraphicFramePr>
        <p:xfrm>
          <a:off x="6537960" y="1920240"/>
          <a:ext cx="4800600" cy="205740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335280">
                <a:tc>
                  <a:txBody>
                    <a:bodyPr/>
                    <a:lstStyle/>
                    <a:p>
                      <a:pPr>
                        <a:defRPr sz="1000" b="1">
                          <a:solidFill>
                            <a:srgbClr val="06B6D4"/>
                          </a:solidFill>
                          <a:latin typeface="Segoe UI"/>
                        </a:defRPr>
                      </a:pPr>
                      <a:r>
                        <a:t>Pin</a:t>
                      </a:r>
                    </a:p>
                  </a:txBody>
                  <a:tcPr>
                    <a:solidFill>
                      <a:srgbClr val="192D4B"/>
                    </a:solidFill>
                  </a:tcPr>
                </a:tc>
                <a:tc>
                  <a:txBody>
                    <a:bodyPr/>
                    <a:lstStyle/>
                    <a:p>
                      <a:pPr>
                        <a:defRPr sz="1000" b="1">
                          <a:solidFill>
                            <a:srgbClr val="06B6D4"/>
                          </a:solidFill>
                          <a:latin typeface="Segoe UI"/>
                        </a:defRPr>
                      </a:pPr>
                      <a:r>
                        <a:t>Connected Hardware</a:t>
                      </a:r>
                    </a:p>
                  </a:txBody>
                  <a:tcPr>
                    <a:solidFill>
                      <a:srgbClr val="192D4B"/>
                    </a:solidFill>
                  </a:tcPr>
                </a:tc>
                <a:tc>
                  <a:txBody>
                    <a:bodyPr/>
                    <a:lstStyle/>
                    <a:p>
                      <a:pPr>
                        <a:defRPr sz="1000" b="1">
                          <a:solidFill>
                            <a:srgbClr val="06B6D4"/>
                          </a:solidFill>
                          <a:latin typeface="Segoe UI"/>
                        </a:defRPr>
                      </a:pPr>
                      <a:r>
                        <a:t>Signal / Protection</a:t>
                      </a:r>
                    </a:p>
                  </a:txBody>
                  <a:tcPr>
                    <a:solidFill>
                      <a:srgbClr val="192D4B"/>
                    </a:solidFill>
                  </a:tcPr>
                </a:tc>
                <a:extLst>
                  <a:ext uri="{0D108BD9-81ED-4DB2-BD59-A6C34878D82A}">
                    <a16:rowId xmlns:a16="http://schemas.microsoft.com/office/drawing/2014/main" val="10000"/>
                  </a:ext>
                </a:extLst>
              </a:tr>
              <a:tr h="335280">
                <a:tc>
                  <a:txBody>
                    <a:bodyPr/>
                    <a:lstStyle/>
                    <a:p>
                      <a:pPr>
                        <a:defRPr sz="950">
                          <a:solidFill>
                            <a:srgbClr val="F8FAFC"/>
                          </a:solidFill>
                          <a:latin typeface="Segoe UI"/>
                        </a:defRPr>
                      </a:pPr>
                      <a:r>
                        <a:t>D9 (PWM)</a:t>
                      </a:r>
                    </a:p>
                  </a:txBody>
                  <a:tcPr>
                    <a:solidFill>
                      <a:srgbClr val="0F1B30"/>
                    </a:solidFill>
                  </a:tcPr>
                </a:tc>
                <a:tc>
                  <a:txBody>
                    <a:bodyPr/>
                    <a:lstStyle/>
                    <a:p>
                      <a:pPr>
                        <a:defRPr sz="950">
                          <a:solidFill>
                            <a:srgbClr val="CBD5E1"/>
                          </a:solidFill>
                          <a:latin typeface="Segoe UI"/>
                        </a:defRPr>
                      </a:pPr>
                      <a:r>
                        <a:t>UV MOSFET Gate (AO3400)</a:t>
                      </a:r>
                    </a:p>
                  </a:txBody>
                  <a:tcPr>
                    <a:solidFill>
                      <a:srgbClr val="0F1B30"/>
                    </a:solidFill>
                  </a:tcPr>
                </a:tc>
                <a:tc>
                  <a:txBody>
                    <a:bodyPr/>
                    <a:lstStyle/>
                    <a:p>
                      <a:pPr>
                        <a:defRPr sz="950">
                          <a:solidFill>
                            <a:srgbClr val="CBD5E1"/>
                          </a:solidFill>
                          <a:latin typeface="Segoe UI"/>
                        </a:defRPr>
                      </a:pPr>
                      <a:r>
                        <a:t>1 kΩ series + 10 kΩ pull</a:t>
                      </a:r>
                    </a:p>
                  </a:txBody>
                  <a:tcPr>
                    <a:solidFill>
                      <a:srgbClr val="0F1B30"/>
                    </a:solidFill>
                  </a:tcPr>
                </a:tc>
                <a:extLst>
                  <a:ext uri="{0D108BD9-81ED-4DB2-BD59-A6C34878D82A}">
                    <a16:rowId xmlns:a16="http://schemas.microsoft.com/office/drawing/2014/main" val="10001"/>
                  </a:ext>
                </a:extLst>
              </a:tr>
              <a:tr h="335280">
                <a:tc>
                  <a:txBody>
                    <a:bodyPr/>
                    <a:lstStyle/>
                    <a:p>
                      <a:pPr>
                        <a:defRPr sz="950">
                          <a:solidFill>
                            <a:srgbClr val="F8FAFC"/>
                          </a:solidFill>
                          <a:latin typeface="Segoe UI"/>
                        </a:defRPr>
                      </a:pPr>
                      <a:r>
                        <a:t>D10 (PWM)</a:t>
                      </a:r>
                    </a:p>
                  </a:txBody>
                  <a:tcPr>
                    <a:solidFill>
                      <a:srgbClr val="0F1B30"/>
                    </a:solidFill>
                  </a:tcPr>
                </a:tc>
                <a:tc>
                  <a:txBody>
                    <a:bodyPr/>
                    <a:lstStyle/>
                    <a:p>
                      <a:pPr>
                        <a:defRPr sz="950">
                          <a:solidFill>
                            <a:srgbClr val="CBD5E1"/>
                          </a:solidFill>
                          <a:latin typeface="Segoe UI"/>
                        </a:defRPr>
                      </a:pPr>
                      <a:r>
                        <a:t>NIR MOSFET Gate (AO3400)</a:t>
                      </a:r>
                    </a:p>
                  </a:txBody>
                  <a:tcPr>
                    <a:solidFill>
                      <a:srgbClr val="0F1B30"/>
                    </a:solidFill>
                  </a:tcPr>
                </a:tc>
                <a:tc>
                  <a:txBody>
                    <a:bodyPr/>
                    <a:lstStyle/>
                    <a:p>
                      <a:pPr>
                        <a:defRPr sz="950">
                          <a:solidFill>
                            <a:srgbClr val="CBD5E1"/>
                          </a:solidFill>
                          <a:latin typeface="Segoe UI"/>
                        </a:defRPr>
                      </a:pPr>
                      <a:r>
                        <a:t>1 kΩ series + 10 kΩ pull</a:t>
                      </a:r>
                    </a:p>
                  </a:txBody>
                  <a:tcPr>
                    <a:solidFill>
                      <a:srgbClr val="0F1B30"/>
                    </a:solidFill>
                  </a:tcPr>
                </a:tc>
                <a:extLst>
                  <a:ext uri="{0D108BD9-81ED-4DB2-BD59-A6C34878D82A}">
                    <a16:rowId xmlns:a16="http://schemas.microsoft.com/office/drawing/2014/main" val="10002"/>
                  </a:ext>
                </a:extLst>
              </a:tr>
              <a:tr h="335280">
                <a:tc>
                  <a:txBody>
                    <a:bodyPr/>
                    <a:lstStyle/>
                    <a:p>
                      <a:pPr>
                        <a:defRPr sz="950">
                          <a:solidFill>
                            <a:srgbClr val="F8FAFC"/>
                          </a:solidFill>
                          <a:latin typeface="Segoe UI"/>
                        </a:defRPr>
                      </a:pPr>
                      <a:r>
                        <a:t>A0 (ADC)</a:t>
                      </a:r>
                    </a:p>
                  </a:txBody>
                  <a:tcPr>
                    <a:solidFill>
                      <a:srgbClr val="0F1B30"/>
                    </a:solidFill>
                  </a:tcPr>
                </a:tc>
                <a:tc>
                  <a:txBody>
                    <a:bodyPr/>
                    <a:lstStyle/>
                    <a:p>
                      <a:pPr>
                        <a:defRPr sz="950">
                          <a:solidFill>
                            <a:srgbClr val="CBD5E1"/>
                          </a:solidFill>
                          <a:latin typeface="Segoe UI"/>
                        </a:defRPr>
                      </a:pPr>
                      <a:r>
                        <a:t>BPW34 Transimpedance Out</a:t>
                      </a:r>
                    </a:p>
                  </a:txBody>
                  <a:tcPr>
                    <a:solidFill>
                      <a:srgbClr val="0F1B30"/>
                    </a:solidFill>
                  </a:tcPr>
                </a:tc>
                <a:tc>
                  <a:txBody>
                    <a:bodyPr/>
                    <a:lstStyle/>
                    <a:p>
                      <a:pPr>
                        <a:defRPr sz="950">
                          <a:solidFill>
                            <a:srgbClr val="CBD5E1"/>
                          </a:solidFill>
                          <a:latin typeface="Segoe UI"/>
                        </a:defRPr>
                      </a:pPr>
                      <a:r>
                        <a:t>0–3.3V Analog Voltage</a:t>
                      </a:r>
                    </a:p>
                  </a:txBody>
                  <a:tcPr>
                    <a:solidFill>
                      <a:srgbClr val="0F1B30"/>
                    </a:solidFill>
                  </a:tcPr>
                </a:tc>
                <a:extLst>
                  <a:ext uri="{0D108BD9-81ED-4DB2-BD59-A6C34878D82A}">
                    <a16:rowId xmlns:a16="http://schemas.microsoft.com/office/drawing/2014/main" val="10003"/>
                  </a:ext>
                </a:extLst>
              </a:tr>
              <a:tr h="335280">
                <a:tc>
                  <a:txBody>
                    <a:bodyPr/>
                    <a:lstStyle/>
                    <a:p>
                      <a:pPr>
                        <a:defRPr sz="950">
                          <a:solidFill>
                            <a:srgbClr val="F8FAFC"/>
                          </a:solidFill>
                          <a:latin typeface="Segoe UI"/>
                        </a:defRPr>
                      </a:pPr>
                      <a:r>
                        <a:t>D2 (GPIO)</a:t>
                      </a:r>
                    </a:p>
                  </a:txBody>
                  <a:tcPr>
                    <a:solidFill>
                      <a:srgbClr val="0F1B30"/>
                    </a:solidFill>
                  </a:tcPr>
                </a:tc>
                <a:tc>
                  <a:txBody>
                    <a:bodyPr/>
                    <a:lstStyle/>
                    <a:p>
                      <a:pPr>
                        <a:defRPr sz="950">
                          <a:solidFill>
                            <a:srgbClr val="CBD5E1"/>
                          </a:solidFill>
                          <a:latin typeface="Segoe UI"/>
                        </a:defRPr>
                      </a:pPr>
                      <a:r>
                        <a:t>Tactile Trigger Pushbutton</a:t>
                      </a:r>
                    </a:p>
                  </a:txBody>
                  <a:tcPr>
                    <a:solidFill>
                      <a:srgbClr val="0F1B30"/>
                    </a:solidFill>
                  </a:tcPr>
                </a:tc>
                <a:tc>
                  <a:txBody>
                    <a:bodyPr/>
                    <a:lstStyle/>
                    <a:p>
                      <a:pPr>
                        <a:defRPr sz="950">
                          <a:solidFill>
                            <a:srgbClr val="CBD5E1"/>
                          </a:solidFill>
                          <a:latin typeface="Segoe UI"/>
                        </a:defRPr>
                      </a:pPr>
                      <a:r>
                        <a:t>INPUT_PULLUP to GND</a:t>
                      </a:r>
                    </a:p>
                  </a:txBody>
                  <a:tcPr>
                    <a:solidFill>
                      <a:srgbClr val="0F1B30"/>
                    </a:solidFill>
                  </a:tcPr>
                </a:tc>
                <a:extLst>
                  <a:ext uri="{0D108BD9-81ED-4DB2-BD59-A6C34878D82A}">
                    <a16:rowId xmlns:a16="http://schemas.microsoft.com/office/drawing/2014/main" val="10004"/>
                  </a:ext>
                </a:extLst>
              </a:tr>
              <a:tr h="335280">
                <a:tc>
                  <a:txBody>
                    <a:bodyPr/>
                    <a:lstStyle/>
                    <a:p>
                      <a:pPr>
                        <a:defRPr sz="950">
                          <a:solidFill>
                            <a:srgbClr val="F8FAFC"/>
                          </a:solidFill>
                          <a:latin typeface="Segoe UI"/>
                        </a:defRPr>
                      </a:pPr>
                      <a:r>
                        <a:t>5V / GND</a:t>
                      </a:r>
                    </a:p>
                  </a:txBody>
                  <a:tcPr>
                    <a:solidFill>
                      <a:srgbClr val="0F1B30"/>
                    </a:solidFill>
                  </a:tcPr>
                </a:tc>
                <a:tc>
                  <a:txBody>
                    <a:bodyPr/>
                    <a:lstStyle/>
                    <a:p>
                      <a:pPr>
                        <a:defRPr sz="950">
                          <a:solidFill>
                            <a:srgbClr val="CBD5E1"/>
                          </a:solidFill>
                          <a:latin typeface="Segoe UI"/>
                        </a:defRPr>
                      </a:pPr>
                      <a:r>
                        <a:t>Sensor Module / Common GND</a:t>
                      </a:r>
                    </a:p>
                  </a:txBody>
                  <a:tcPr>
                    <a:solidFill>
                      <a:srgbClr val="0F1B30"/>
                    </a:solidFill>
                  </a:tcPr>
                </a:tc>
                <a:tc>
                  <a:txBody>
                    <a:bodyPr/>
                    <a:lstStyle/>
                    <a:p>
                      <a:pPr>
                        <a:defRPr sz="950">
                          <a:solidFill>
                            <a:srgbClr val="CBD5E1"/>
                          </a:solidFill>
                          <a:latin typeface="Segoe UI"/>
                        </a:defRPr>
                      </a:pPr>
                      <a:r>
                        <a:t>Isolated clean ground rail</a:t>
                      </a:r>
                    </a:p>
                  </a:txBody>
                  <a:tcPr>
                    <a:solidFill>
                      <a:srgbClr val="0F1B30"/>
                    </a:solidFill>
                  </a:tcPr>
                </a:tc>
                <a:extLst>
                  <a:ext uri="{0D108BD9-81ED-4DB2-BD59-A6C34878D82A}">
                    <a16:rowId xmlns:a16="http://schemas.microsoft.com/office/drawing/2014/main" val="10005"/>
                  </a:ext>
                </a:extLst>
              </a:tr>
            </a:tbl>
          </a:graphicData>
        </a:graphic>
      </p:graphicFrame>
      <p:sp>
        <p:nvSpPr>
          <p:cNvPr id="22" name="Rounded Rectangle 21"/>
          <p:cNvSpPr/>
          <p:nvPr/>
        </p:nvSpPr>
        <p:spPr>
          <a:xfrm>
            <a:off x="6537960" y="4160520"/>
            <a:ext cx="4800600" cy="1828800"/>
          </a:xfrm>
          <a:prstGeom prst="roundRect">
            <a:avLst/>
          </a:prstGeom>
          <a:solidFill>
            <a:srgbClr val="14233C"/>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675120" y="4251960"/>
            <a:ext cx="4526280" cy="274320"/>
          </a:xfrm>
          <a:prstGeom prst="rect">
            <a:avLst/>
          </a:prstGeom>
          <a:noFill/>
        </p:spPr>
        <p:txBody>
          <a:bodyPr wrap="square" lIns="45720" rIns="45720" anchor="t">
            <a:spAutoFit/>
          </a:bodyPr>
          <a:lstStyle/>
          <a:p>
            <a:pPr>
              <a:defRPr sz="1100" b="1">
                <a:solidFill>
                  <a:srgbClr val="10B981"/>
                </a:solidFill>
                <a:latin typeface="Segoe UI"/>
              </a:defRPr>
            </a:pPr>
            <a:r>
              <a:t>BILL OF MATERIALS (PROTOTYPE COST ESTIMATE)</a:t>
            </a:r>
          </a:p>
        </p:txBody>
      </p:sp>
      <p:sp>
        <p:nvSpPr>
          <p:cNvPr id="24" name="TextBox 23"/>
          <p:cNvSpPr txBox="1"/>
          <p:nvPr/>
        </p:nvSpPr>
        <p:spPr>
          <a:xfrm>
            <a:off x="6675120" y="4526280"/>
            <a:ext cx="4526280" cy="1371600"/>
          </a:xfrm>
          <a:prstGeom prst="rect">
            <a:avLst/>
          </a:prstGeom>
          <a:noFill/>
        </p:spPr>
        <p:txBody>
          <a:bodyPr wrap="square" lIns="36576" tIns="18288" rIns="36576" bIns="18288">
            <a:spAutoFit/>
          </a:bodyPr>
          <a:lstStyle/>
          <a:p>
            <a:pPr>
              <a:spcAft>
                <a:spcPts val="800"/>
              </a:spcAft>
              <a:defRPr sz="1000">
                <a:solidFill>
                  <a:srgbClr val="CBD5E1"/>
                </a:solidFill>
                <a:latin typeface="Segoe UI"/>
              </a:defRPr>
            </a:pPr>
            <a:r>
              <a:t>•  Arduino UNO R4 Minima Board: ~$20.00</a:t>
            </a:r>
          </a:p>
          <a:p>
            <a:pPr>
              <a:spcAft>
                <a:spcPts val="800"/>
              </a:spcAft>
              <a:defRPr sz="1000">
                <a:solidFill>
                  <a:srgbClr val="CBD5E1"/>
                </a:solidFill>
                <a:latin typeface="Segoe UI"/>
              </a:defRPr>
            </a:pPr>
            <a:r>
              <a:t>•  Optical LEDs (365nm UV + 850nm NIR): ~$12.00</a:t>
            </a:r>
          </a:p>
          <a:p>
            <a:pPr>
              <a:spcAft>
                <a:spcPts val="800"/>
              </a:spcAft>
              <a:defRPr sz="1000">
                <a:solidFill>
                  <a:srgbClr val="CBD5E1"/>
                </a:solidFill>
                <a:latin typeface="Segoe UI"/>
              </a:defRPr>
            </a:pPr>
            <a:r>
              <a:t>•  BPW34 Photodiode + Transimpedance Amp: ~$8.00</a:t>
            </a:r>
          </a:p>
          <a:p>
            <a:pPr>
              <a:spcAft>
                <a:spcPts val="800"/>
              </a:spcAft>
              <a:defRPr sz="1000">
                <a:solidFill>
                  <a:srgbClr val="CBD5E1"/>
                </a:solidFill>
                <a:latin typeface="Segoe UI"/>
              </a:defRPr>
            </a:pPr>
            <a:r>
              <a:t>•  USB CMOS Camera Module (IR wide-band): ~$18.00</a:t>
            </a:r>
          </a:p>
          <a:p>
            <a:pPr>
              <a:spcAft>
                <a:spcPts val="800"/>
              </a:spcAft>
              <a:defRPr sz="1000">
                <a:solidFill>
                  <a:srgbClr val="CBD5E1"/>
                </a:solidFill>
                <a:latin typeface="Segoe UI"/>
              </a:defRPr>
            </a:pPr>
            <a:r>
              <a:t>•  Enclosure, Baffles, MOSFETs, Passives: ~$6.00</a:t>
            </a:r>
          </a:p>
          <a:p>
            <a:pPr>
              <a:spcAft>
                <a:spcPts val="800"/>
              </a:spcAft>
              <a:defRPr sz="1000">
                <a:solidFill>
                  <a:srgbClr val="CBD5E1"/>
                </a:solidFill>
                <a:latin typeface="Segoe UI"/>
              </a:defRPr>
            </a:pPr>
            <a:r>
              <a:t>•  TOTAL PROTOTYPE FABRICATION COST: ~$64.00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F1E"/>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10789920" cy="274320"/>
          </a:xfrm>
          <a:prstGeom prst="rect">
            <a:avLst/>
          </a:prstGeom>
          <a:noFill/>
        </p:spPr>
        <p:txBody>
          <a:bodyPr wrap="square" lIns="45720" rIns="45720" anchor="t">
            <a:spAutoFit/>
          </a:bodyPr>
          <a:lstStyle/>
          <a:p>
            <a:pPr>
              <a:defRPr sz="1100" b="1">
                <a:solidFill>
                  <a:srgbClr val="06B6D4"/>
                </a:solidFill>
                <a:latin typeface="Segoe UI"/>
              </a:defRPr>
            </a:pPr>
            <a:r>
              <a:t>COMPUTER VISION PIPELINE</a:t>
            </a:r>
          </a:p>
        </p:txBody>
      </p:sp>
      <p:sp>
        <p:nvSpPr>
          <p:cNvPr id="3" name="TextBox 2"/>
          <p:cNvSpPr txBox="1"/>
          <p:nvPr/>
        </p:nvSpPr>
        <p:spPr>
          <a:xfrm>
            <a:off x="658368" y="594360"/>
            <a:ext cx="10789920" cy="502920"/>
          </a:xfrm>
          <a:prstGeom prst="rect">
            <a:avLst/>
          </a:prstGeom>
          <a:noFill/>
        </p:spPr>
        <p:txBody>
          <a:bodyPr wrap="square" lIns="45720" rIns="45720" anchor="t">
            <a:spAutoFit/>
          </a:bodyPr>
          <a:lstStyle/>
          <a:p>
            <a:pPr>
              <a:defRPr sz="2400" b="1">
                <a:solidFill>
                  <a:srgbClr val="F8FAFC"/>
                </a:solidFill>
                <a:latin typeface="Segoe UI"/>
              </a:defRPr>
            </a:pPr>
            <a:r>
              <a:t>5-Stage Algorithmic Pipeline: From Optical Frames to Registered Heatmap</a:t>
            </a:r>
          </a:p>
        </p:txBody>
      </p:sp>
      <p:sp>
        <p:nvSpPr>
          <p:cNvPr id="4" name="Rectangle 3"/>
          <p:cNvSpPr/>
          <p:nvPr/>
        </p:nvSpPr>
        <p:spPr>
          <a:xfrm>
            <a:off x="685800" y="1115568"/>
            <a:ext cx="7772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548640" cy="274320"/>
          </a:xfrm>
          <a:prstGeom prst="rect">
            <a:avLst/>
          </a:prstGeom>
          <a:noFill/>
        </p:spPr>
        <p:txBody>
          <a:bodyPr wrap="square" lIns="45720" rIns="45720" anchor="t">
            <a:spAutoFit/>
          </a:bodyPr>
          <a:lstStyle/>
          <a:p>
            <a:pPr algn="r">
              <a:defRPr sz="1000" b="0">
                <a:solidFill>
                  <a:srgbClr val="94A3B8"/>
                </a:solidFill>
                <a:latin typeface="Segoe UI"/>
              </a:defRPr>
            </a:pPr>
            <a:r>
              <a:t>06 / 09</a:t>
            </a:r>
          </a:p>
        </p:txBody>
      </p:sp>
      <p:sp>
        <p:nvSpPr>
          <p:cNvPr id="6" name="TextBox 5"/>
          <p:cNvSpPr txBox="1"/>
          <p:nvPr/>
        </p:nvSpPr>
        <p:spPr>
          <a:xfrm>
            <a:off x="685800" y="6446520"/>
            <a:ext cx="7315200" cy="274320"/>
          </a:xfrm>
          <a:prstGeom prst="rect">
            <a:avLst/>
          </a:prstGeom>
          <a:noFill/>
        </p:spPr>
        <p:txBody>
          <a:bodyPr wrap="square" lIns="45720" rIns="45720" anchor="t">
            <a:spAutoFit/>
          </a:bodyPr>
          <a:lstStyle/>
          <a:p>
            <a:pPr>
              <a:defRPr sz="900" b="0">
                <a:solidFill>
                  <a:srgbClr val="94A3B8"/>
                </a:solidFill>
                <a:latin typeface="Segoe UI"/>
              </a:defRPr>
            </a:pPr>
            <a:r>
              <a:t>BLOODTRACE™ — MNIT JAIPUR • DEVANSH LILA • CONFIDENTIAL &amp; PROPRIETARY</a:t>
            </a:r>
          </a:p>
        </p:txBody>
      </p:sp>
      <p:sp>
        <p:nvSpPr>
          <p:cNvPr id="7" name="Rounded Rectangle 6"/>
          <p:cNvSpPr/>
          <p:nvPr/>
        </p:nvSpPr>
        <p:spPr>
          <a:xfrm>
            <a:off x="685800" y="1371600"/>
            <a:ext cx="2057400" cy="2926080"/>
          </a:xfrm>
          <a:prstGeom prst="roundRect">
            <a:avLst/>
          </a:prstGeom>
          <a:solidFill>
            <a:srgbClr val="0F1B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508760"/>
            <a:ext cx="1828800" cy="320040"/>
          </a:xfrm>
          <a:prstGeom prst="rect">
            <a:avLst/>
          </a:prstGeom>
          <a:noFill/>
        </p:spPr>
        <p:txBody>
          <a:bodyPr wrap="square" lIns="45720" rIns="45720" anchor="t">
            <a:spAutoFit/>
          </a:bodyPr>
          <a:lstStyle/>
          <a:p>
            <a:pPr>
              <a:defRPr sz="1300" b="1">
                <a:solidFill>
                  <a:srgbClr val="06B6D4"/>
                </a:solidFill>
                <a:latin typeface="Segoe UI"/>
              </a:defRPr>
            </a:pPr>
            <a:r>
              <a:t>01. Acquisition</a:t>
            </a:r>
          </a:p>
        </p:txBody>
      </p:sp>
      <p:sp>
        <p:nvSpPr>
          <p:cNvPr id="9" name="Rectangle 8"/>
          <p:cNvSpPr/>
          <p:nvPr/>
        </p:nvSpPr>
        <p:spPr>
          <a:xfrm>
            <a:off x="795528" y="1874519"/>
            <a:ext cx="182880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8" y="2011680"/>
            <a:ext cx="1828800" cy="2103120"/>
          </a:xfrm>
          <a:prstGeom prst="rect">
            <a:avLst/>
          </a:prstGeom>
          <a:noFill/>
        </p:spPr>
        <p:txBody>
          <a:bodyPr wrap="square" lIns="45720" rIns="45720" anchor="t">
            <a:spAutoFit/>
          </a:bodyPr>
          <a:lstStyle/>
          <a:p>
            <a:pPr>
              <a:defRPr sz="1100" b="0">
                <a:solidFill>
                  <a:srgbClr val="CBD5E1"/>
                </a:solidFill>
                <a:latin typeface="Segoe UI"/>
              </a:defRPr>
            </a:pPr>
            <a:r>
              <a:t>Synchronized multi-spectral capture. Takes visible baseline, 365 nm UV, and 850 nm NIR frames with locked exposure, white balance, and fixed camera distance.</a:t>
            </a:r>
          </a:p>
        </p:txBody>
      </p:sp>
      <p:sp>
        <p:nvSpPr>
          <p:cNvPr id="11" name="Rounded Rectangle 10"/>
          <p:cNvSpPr/>
          <p:nvPr/>
        </p:nvSpPr>
        <p:spPr>
          <a:xfrm>
            <a:off x="2880360" y="1371600"/>
            <a:ext cx="2057400" cy="2926080"/>
          </a:xfrm>
          <a:prstGeom prst="roundRect">
            <a:avLst/>
          </a:prstGeom>
          <a:solidFill>
            <a:srgbClr val="0F1B30"/>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990088" y="1508760"/>
            <a:ext cx="1828800" cy="320040"/>
          </a:xfrm>
          <a:prstGeom prst="rect">
            <a:avLst/>
          </a:prstGeom>
          <a:noFill/>
        </p:spPr>
        <p:txBody>
          <a:bodyPr wrap="square" lIns="45720" rIns="45720" anchor="t">
            <a:spAutoFit/>
          </a:bodyPr>
          <a:lstStyle/>
          <a:p>
            <a:pPr>
              <a:defRPr sz="1300" b="1">
                <a:solidFill>
                  <a:srgbClr val="14B8A6"/>
                </a:solidFill>
                <a:latin typeface="Segoe UI"/>
              </a:defRPr>
            </a:pPr>
            <a:r>
              <a:t>02. Registration</a:t>
            </a:r>
          </a:p>
        </p:txBody>
      </p:sp>
      <p:sp>
        <p:nvSpPr>
          <p:cNvPr id="13" name="Rectangle 12"/>
          <p:cNvSpPr/>
          <p:nvPr/>
        </p:nvSpPr>
        <p:spPr>
          <a:xfrm>
            <a:off x="2990088" y="1874519"/>
            <a:ext cx="182880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90088" y="2011680"/>
            <a:ext cx="1828800" cy="2103120"/>
          </a:xfrm>
          <a:prstGeom prst="rect">
            <a:avLst/>
          </a:prstGeom>
          <a:noFill/>
        </p:spPr>
        <p:txBody>
          <a:bodyPr wrap="square" lIns="45720" rIns="45720" anchor="t">
            <a:spAutoFit/>
          </a:bodyPr>
          <a:lstStyle/>
          <a:p>
            <a:pPr>
              <a:defRPr sz="1100" b="0">
                <a:solidFill>
                  <a:srgbClr val="CBD5E1"/>
                </a:solidFill>
                <a:latin typeface="Segoe UI"/>
              </a:defRPr>
            </a:pPr>
            <a:r>
              <a:t>Pixel-aligned spatial homography and dark-frame background subtraction. Normalizes ambient stray light and compensates for curved metallic reflections.</a:t>
            </a:r>
          </a:p>
        </p:txBody>
      </p:sp>
      <p:sp>
        <p:nvSpPr>
          <p:cNvPr id="15" name="Rounded Rectangle 14"/>
          <p:cNvSpPr/>
          <p:nvPr/>
        </p:nvSpPr>
        <p:spPr>
          <a:xfrm>
            <a:off x="5074920" y="1371600"/>
            <a:ext cx="2057400" cy="2926080"/>
          </a:xfrm>
          <a:prstGeom prst="roundRect">
            <a:avLst/>
          </a:prstGeom>
          <a:solidFill>
            <a:srgbClr val="0F1B30"/>
          </a:solidFill>
          <a:ln w="1905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84648" y="1508760"/>
            <a:ext cx="1828800" cy="320040"/>
          </a:xfrm>
          <a:prstGeom prst="rect">
            <a:avLst/>
          </a:prstGeom>
          <a:noFill/>
        </p:spPr>
        <p:txBody>
          <a:bodyPr wrap="square" lIns="45720" rIns="45720" anchor="t">
            <a:spAutoFit/>
          </a:bodyPr>
          <a:lstStyle/>
          <a:p>
            <a:pPr>
              <a:defRPr sz="1300" b="1">
                <a:solidFill>
                  <a:srgbClr val="22D3EE"/>
                </a:solidFill>
                <a:latin typeface="Segoe UI"/>
              </a:defRPr>
            </a:pPr>
            <a:r>
              <a:t>03. Difference</a:t>
            </a:r>
          </a:p>
        </p:txBody>
      </p:sp>
      <p:sp>
        <p:nvSpPr>
          <p:cNvPr id="17" name="Rectangle 16"/>
          <p:cNvSpPr/>
          <p:nvPr/>
        </p:nvSpPr>
        <p:spPr>
          <a:xfrm>
            <a:off x="5184648" y="1874519"/>
            <a:ext cx="182880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84648" y="2011680"/>
            <a:ext cx="1828800" cy="2103120"/>
          </a:xfrm>
          <a:prstGeom prst="rect">
            <a:avLst/>
          </a:prstGeom>
          <a:noFill/>
        </p:spPr>
        <p:txBody>
          <a:bodyPr wrap="square" lIns="45720" rIns="45720" anchor="t">
            <a:spAutoFit/>
          </a:bodyPr>
          <a:lstStyle/>
          <a:p>
            <a:pPr>
              <a:defRPr sz="1100" b="0">
                <a:solidFill>
                  <a:srgbClr val="CBD5E1"/>
                </a:solidFill>
                <a:latin typeface="Segoe UI"/>
              </a:defRPr>
            </a:pPr>
            <a:r>
              <a:t>Calculates Normalized Difference Index (NDI) between UV emission and NIR absorption. Cancels specular glare and metallic machining marks.</a:t>
            </a:r>
          </a:p>
        </p:txBody>
      </p:sp>
      <p:sp>
        <p:nvSpPr>
          <p:cNvPr id="19" name="Rounded Rectangle 18"/>
          <p:cNvSpPr/>
          <p:nvPr/>
        </p:nvSpPr>
        <p:spPr>
          <a:xfrm>
            <a:off x="7269480" y="1371600"/>
            <a:ext cx="2057400" cy="2926080"/>
          </a:xfrm>
          <a:prstGeom prst="roundRect">
            <a:avLst/>
          </a:prstGeom>
          <a:solidFill>
            <a:srgbClr val="0F1B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79208" y="1508760"/>
            <a:ext cx="1828800" cy="320040"/>
          </a:xfrm>
          <a:prstGeom prst="rect">
            <a:avLst/>
          </a:prstGeom>
          <a:noFill/>
        </p:spPr>
        <p:txBody>
          <a:bodyPr wrap="square" lIns="45720" rIns="45720" anchor="t">
            <a:spAutoFit/>
          </a:bodyPr>
          <a:lstStyle/>
          <a:p>
            <a:pPr>
              <a:defRPr sz="1300" b="1">
                <a:solidFill>
                  <a:srgbClr val="F59E0B"/>
                </a:solidFill>
                <a:latin typeface="Segoe UI"/>
              </a:defRPr>
            </a:pPr>
            <a:r>
              <a:t>04. Filtering</a:t>
            </a:r>
          </a:p>
        </p:txBody>
      </p:sp>
      <p:sp>
        <p:nvSpPr>
          <p:cNvPr id="21" name="Rectangle 20"/>
          <p:cNvSpPr/>
          <p:nvPr/>
        </p:nvSpPr>
        <p:spPr>
          <a:xfrm>
            <a:off x="7379208" y="1874519"/>
            <a:ext cx="182880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79208" y="2011680"/>
            <a:ext cx="1828800" cy="2103120"/>
          </a:xfrm>
          <a:prstGeom prst="rect">
            <a:avLst/>
          </a:prstGeom>
          <a:noFill/>
        </p:spPr>
        <p:txBody>
          <a:bodyPr wrap="square" lIns="45720" rIns="45720" anchor="t">
            <a:spAutoFit/>
          </a:bodyPr>
          <a:lstStyle/>
          <a:p>
            <a:pPr>
              <a:defRPr sz="1100" b="0">
                <a:solidFill>
                  <a:srgbClr val="CBD5E1"/>
                </a:solidFill>
                <a:latin typeface="Segoe UI"/>
              </a:defRPr>
            </a:pPr>
            <a:r>
              <a:t>Morphological opening and Gaussian blurring remove high-frequency camera noise. Adaptive dynamic Otsu threshold isolates coagulated bioburden crusts.</a:t>
            </a:r>
          </a:p>
        </p:txBody>
      </p:sp>
      <p:sp>
        <p:nvSpPr>
          <p:cNvPr id="23" name="Rounded Rectangle 22"/>
          <p:cNvSpPr/>
          <p:nvPr/>
        </p:nvSpPr>
        <p:spPr>
          <a:xfrm>
            <a:off x="9464040" y="1371600"/>
            <a:ext cx="2057400" cy="2926080"/>
          </a:xfrm>
          <a:prstGeom prst="roundRect">
            <a:avLst/>
          </a:prstGeom>
          <a:solidFill>
            <a:srgbClr val="0F1B30"/>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73767" y="1508760"/>
            <a:ext cx="1828800" cy="320040"/>
          </a:xfrm>
          <a:prstGeom prst="rect">
            <a:avLst/>
          </a:prstGeom>
          <a:noFill/>
        </p:spPr>
        <p:txBody>
          <a:bodyPr wrap="square" lIns="45720" rIns="45720" anchor="t">
            <a:spAutoFit/>
          </a:bodyPr>
          <a:lstStyle/>
          <a:p>
            <a:pPr>
              <a:defRPr sz="1300" b="1">
                <a:solidFill>
                  <a:srgbClr val="10B981"/>
                </a:solidFill>
                <a:latin typeface="Segoe UI"/>
              </a:defRPr>
            </a:pPr>
            <a:r>
              <a:t>05. Heatmap &amp; ROI</a:t>
            </a:r>
          </a:p>
        </p:txBody>
      </p:sp>
      <p:sp>
        <p:nvSpPr>
          <p:cNvPr id="25" name="Rectangle 24"/>
          <p:cNvSpPr/>
          <p:nvPr/>
        </p:nvSpPr>
        <p:spPr>
          <a:xfrm>
            <a:off x="9573767" y="1874519"/>
            <a:ext cx="182880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73767" y="2011680"/>
            <a:ext cx="1828800" cy="2103120"/>
          </a:xfrm>
          <a:prstGeom prst="rect">
            <a:avLst/>
          </a:prstGeom>
          <a:noFill/>
        </p:spPr>
        <p:txBody>
          <a:bodyPr wrap="square" lIns="45720" rIns="45720" anchor="t">
            <a:spAutoFit/>
          </a:bodyPr>
          <a:lstStyle/>
          <a:p>
            <a:pPr>
              <a:defRPr sz="1100" b="0">
                <a:solidFill>
                  <a:srgbClr val="CBD5E1"/>
                </a:solidFill>
                <a:latin typeface="Segoe UI"/>
              </a:defRPr>
            </a:pPr>
            <a:r>
              <a:t>Contour extraction generates spatial bounding boxes. Computes % contaminated area and assigns simulation confidence score per region.</a:t>
            </a:r>
          </a:p>
        </p:txBody>
      </p:sp>
      <p:cxnSp>
        <p:nvCxnSpPr>
          <p:cNvPr id="27" name="Connector 26"/>
          <p:cNvCxnSpPr/>
          <p:nvPr/>
        </p:nvCxnSpPr>
        <p:spPr>
          <a:xfrm>
            <a:off x="2761488" y="2743200"/>
            <a:ext cx="109728" cy="0"/>
          </a:xfrm>
          <a:prstGeom prst="line">
            <a:avLst/>
          </a:prstGeom>
          <a:ln w="19050">
            <a:solidFill>
              <a:srgbClr val="06B6D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956048" y="2743200"/>
            <a:ext cx="109728" cy="0"/>
          </a:xfrm>
          <a:prstGeom prst="line">
            <a:avLst/>
          </a:prstGeom>
          <a:ln w="19050">
            <a:solidFill>
              <a:srgbClr val="06B6D4"/>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150607" y="2743200"/>
            <a:ext cx="109729" cy="0"/>
          </a:xfrm>
          <a:prstGeom prst="line">
            <a:avLst/>
          </a:prstGeom>
          <a:ln w="19050">
            <a:solidFill>
              <a:srgbClr val="06B6D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345167" y="2743200"/>
            <a:ext cx="109729" cy="0"/>
          </a:xfrm>
          <a:prstGeom prst="line">
            <a:avLst/>
          </a:prstGeom>
          <a:ln w="19050">
            <a:solidFill>
              <a:srgbClr val="06B6D4"/>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85800" y="4480560"/>
            <a:ext cx="10835640" cy="169164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4617720"/>
            <a:ext cx="10378440" cy="320040"/>
          </a:xfrm>
          <a:prstGeom prst="rect">
            <a:avLst/>
          </a:prstGeom>
          <a:noFill/>
        </p:spPr>
        <p:txBody>
          <a:bodyPr wrap="square" lIns="45720" rIns="45720" anchor="t">
            <a:spAutoFit/>
          </a:bodyPr>
          <a:lstStyle/>
          <a:p>
            <a:pPr>
              <a:defRPr sz="1100" b="1">
                <a:solidFill>
                  <a:srgbClr val="06B6D4"/>
                </a:solidFill>
                <a:latin typeface="Segoe UI"/>
              </a:defRPr>
            </a:pPr>
            <a:r>
              <a:t>TRIPARTITE SCREENING OUTCOME TAXONOMY</a:t>
            </a:r>
          </a:p>
        </p:txBody>
      </p:sp>
      <p:sp>
        <p:nvSpPr>
          <p:cNvPr id="33" name="TextBox 32"/>
          <p:cNvSpPr txBox="1"/>
          <p:nvPr/>
        </p:nvSpPr>
        <p:spPr>
          <a:xfrm>
            <a:off x="914400" y="4937760"/>
            <a:ext cx="3337560" cy="274320"/>
          </a:xfrm>
          <a:prstGeom prst="rect">
            <a:avLst/>
          </a:prstGeom>
          <a:noFill/>
        </p:spPr>
        <p:txBody>
          <a:bodyPr wrap="square" lIns="45720" rIns="45720" anchor="t">
            <a:spAutoFit/>
          </a:bodyPr>
          <a:lstStyle/>
          <a:p>
            <a:pPr>
              <a:defRPr sz="1200" b="1">
                <a:solidFill>
                  <a:srgbClr val="10B981"/>
                </a:solidFill>
                <a:latin typeface="Segoe UI"/>
              </a:defRPr>
            </a:pPr>
            <a:r>
              <a:t>PASS / UNFLAGGED (Green)</a:t>
            </a:r>
          </a:p>
        </p:txBody>
      </p:sp>
      <p:sp>
        <p:nvSpPr>
          <p:cNvPr id="34" name="TextBox 33"/>
          <p:cNvSpPr txBox="1"/>
          <p:nvPr/>
        </p:nvSpPr>
        <p:spPr>
          <a:xfrm>
            <a:off x="914400" y="5257800"/>
            <a:ext cx="3337560" cy="822960"/>
          </a:xfrm>
          <a:prstGeom prst="rect">
            <a:avLst/>
          </a:prstGeom>
          <a:noFill/>
        </p:spPr>
        <p:txBody>
          <a:bodyPr wrap="square" lIns="45720" rIns="45720" anchor="t">
            <a:spAutoFit/>
          </a:bodyPr>
          <a:lstStyle/>
          <a:p>
            <a:pPr>
              <a:defRPr sz="1100" b="0">
                <a:solidFill>
                  <a:srgbClr val="CBD5E1"/>
                </a:solidFill>
                <a:latin typeface="Segoe UI"/>
              </a:defRPr>
            </a:pPr>
            <a:r>
              <a:t>No candidate region detected. Steel surface reflects uniform NIR (~760 a.u.) with baseline UV (&lt;20 a.u.). Cleared for packaging.</a:t>
            </a:r>
          </a:p>
        </p:txBody>
      </p:sp>
      <p:sp>
        <p:nvSpPr>
          <p:cNvPr id="35" name="TextBox 34"/>
          <p:cNvSpPr txBox="1"/>
          <p:nvPr/>
        </p:nvSpPr>
        <p:spPr>
          <a:xfrm>
            <a:off x="4389120" y="4937760"/>
            <a:ext cx="3337560" cy="274320"/>
          </a:xfrm>
          <a:prstGeom prst="rect">
            <a:avLst/>
          </a:prstGeom>
          <a:noFill/>
        </p:spPr>
        <p:txBody>
          <a:bodyPr wrap="square" lIns="45720" rIns="45720" anchor="t">
            <a:spAutoFit/>
          </a:bodyPr>
          <a:lstStyle/>
          <a:p>
            <a:pPr>
              <a:defRPr sz="1200" b="1">
                <a:solidFill>
                  <a:srgbClr val="F43F5E"/>
                </a:solidFill>
                <a:latin typeface="Segoe UI"/>
              </a:defRPr>
            </a:pPr>
            <a:r>
              <a:t>FAIL / RESIDUE (Red)</a:t>
            </a:r>
          </a:p>
        </p:txBody>
      </p:sp>
      <p:sp>
        <p:nvSpPr>
          <p:cNvPr id="36" name="TextBox 35"/>
          <p:cNvSpPr txBox="1"/>
          <p:nvPr/>
        </p:nvSpPr>
        <p:spPr>
          <a:xfrm>
            <a:off x="4389120" y="5257800"/>
            <a:ext cx="3337560" cy="822960"/>
          </a:xfrm>
          <a:prstGeom prst="rect">
            <a:avLst/>
          </a:prstGeom>
          <a:noFill/>
        </p:spPr>
        <p:txBody>
          <a:bodyPr wrap="square" lIns="45720" rIns="45720" anchor="t">
            <a:spAutoFit/>
          </a:bodyPr>
          <a:lstStyle/>
          <a:p>
            <a:pPr>
              <a:defRPr sz="1100" b="0">
                <a:solidFill>
                  <a:srgbClr val="CBD5E1"/>
                </a:solidFill>
                <a:latin typeface="Segoe UI"/>
              </a:defRPr>
            </a:pPr>
            <a:r>
              <a:t>Candidate contamination detected. Significant NIR absorption drop (&gt;40%) and elevated UV fluorescence. Routed to ultrasonic re-wash.</a:t>
            </a:r>
          </a:p>
        </p:txBody>
      </p:sp>
      <p:sp>
        <p:nvSpPr>
          <p:cNvPr id="37" name="TextBox 36"/>
          <p:cNvSpPr txBox="1"/>
          <p:nvPr/>
        </p:nvSpPr>
        <p:spPr>
          <a:xfrm>
            <a:off x="7863840" y="4937760"/>
            <a:ext cx="3337560" cy="274320"/>
          </a:xfrm>
          <a:prstGeom prst="rect">
            <a:avLst/>
          </a:prstGeom>
          <a:noFill/>
        </p:spPr>
        <p:txBody>
          <a:bodyPr wrap="square" lIns="45720" rIns="45720" anchor="t">
            <a:spAutoFit/>
          </a:bodyPr>
          <a:lstStyle/>
          <a:p>
            <a:pPr>
              <a:defRPr sz="1200" b="1">
                <a:solidFill>
                  <a:srgbClr val="F59E0B"/>
                </a:solidFill>
                <a:latin typeface="Segoe UI"/>
              </a:defRPr>
            </a:pPr>
            <a:r>
              <a:t>AMBIGUOUS / REVIEW (Amber)</a:t>
            </a:r>
          </a:p>
        </p:txBody>
      </p:sp>
      <p:sp>
        <p:nvSpPr>
          <p:cNvPr id="38" name="TextBox 37"/>
          <p:cNvSpPr txBox="1"/>
          <p:nvPr/>
        </p:nvSpPr>
        <p:spPr>
          <a:xfrm>
            <a:off x="7863840" y="5257800"/>
            <a:ext cx="3337560" cy="822960"/>
          </a:xfrm>
          <a:prstGeom prst="rect">
            <a:avLst/>
          </a:prstGeom>
          <a:noFill/>
        </p:spPr>
        <p:txBody>
          <a:bodyPr wrap="square" lIns="45720" rIns="45720" anchor="t">
            <a:spAutoFit/>
          </a:bodyPr>
          <a:lstStyle/>
          <a:p>
            <a:pPr>
              <a:defRPr sz="1100" b="0">
                <a:solidFill>
                  <a:srgbClr val="CBD5E1"/>
                </a:solidFill>
                <a:latin typeface="Segoe UI"/>
              </a:defRPr>
            </a:pPr>
            <a:r>
              <a:t>Optical variance detected (e.g. dried detergent film or water scale) without distinct hemoglobin signature. Routed to manual microscopy.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F1E"/>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10789920" cy="274320"/>
          </a:xfrm>
          <a:prstGeom prst="rect">
            <a:avLst/>
          </a:prstGeom>
          <a:noFill/>
        </p:spPr>
        <p:txBody>
          <a:bodyPr wrap="square" lIns="45720" rIns="45720" anchor="t">
            <a:spAutoFit/>
          </a:bodyPr>
          <a:lstStyle/>
          <a:p>
            <a:pPr>
              <a:defRPr sz="1100" b="1">
                <a:solidFill>
                  <a:srgbClr val="06B6D4"/>
                </a:solidFill>
                <a:latin typeface="Segoe UI"/>
              </a:defRPr>
            </a:pPr>
            <a:r>
              <a:t>EXPERIMENTAL VALIDATION &amp; TESTING</a:t>
            </a:r>
          </a:p>
        </p:txBody>
      </p:sp>
      <p:sp>
        <p:nvSpPr>
          <p:cNvPr id="3" name="TextBox 2"/>
          <p:cNvSpPr txBox="1"/>
          <p:nvPr/>
        </p:nvSpPr>
        <p:spPr>
          <a:xfrm>
            <a:off x="658368" y="594360"/>
            <a:ext cx="10789920" cy="502920"/>
          </a:xfrm>
          <a:prstGeom prst="rect">
            <a:avLst/>
          </a:prstGeom>
          <a:noFill/>
        </p:spPr>
        <p:txBody>
          <a:bodyPr wrap="square" lIns="45720" rIns="45720" anchor="t">
            <a:spAutoFit/>
          </a:bodyPr>
          <a:lstStyle/>
          <a:p>
            <a:pPr>
              <a:defRPr sz="2400" b="1">
                <a:solidFill>
                  <a:srgbClr val="F8FAFC"/>
                </a:solidFill>
                <a:latin typeface="Segoe UI"/>
              </a:defRPr>
            </a:pPr>
            <a:r>
              <a:t>Controlled Testing Protocol, Confounder Controls &amp; Quantitative Metrics</a:t>
            </a:r>
          </a:p>
        </p:txBody>
      </p:sp>
      <p:sp>
        <p:nvSpPr>
          <p:cNvPr id="4" name="Rectangle 3"/>
          <p:cNvSpPr/>
          <p:nvPr/>
        </p:nvSpPr>
        <p:spPr>
          <a:xfrm>
            <a:off x="685800" y="1115568"/>
            <a:ext cx="7772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548640" cy="274320"/>
          </a:xfrm>
          <a:prstGeom prst="rect">
            <a:avLst/>
          </a:prstGeom>
          <a:noFill/>
        </p:spPr>
        <p:txBody>
          <a:bodyPr wrap="square" lIns="45720" rIns="45720" anchor="t">
            <a:spAutoFit/>
          </a:bodyPr>
          <a:lstStyle/>
          <a:p>
            <a:pPr algn="r">
              <a:defRPr sz="1000" b="0">
                <a:solidFill>
                  <a:srgbClr val="94A3B8"/>
                </a:solidFill>
                <a:latin typeface="Segoe UI"/>
              </a:defRPr>
            </a:pPr>
            <a:r>
              <a:t>07 / 09</a:t>
            </a:r>
          </a:p>
        </p:txBody>
      </p:sp>
      <p:sp>
        <p:nvSpPr>
          <p:cNvPr id="6" name="TextBox 5"/>
          <p:cNvSpPr txBox="1"/>
          <p:nvPr/>
        </p:nvSpPr>
        <p:spPr>
          <a:xfrm>
            <a:off x="685800" y="6446520"/>
            <a:ext cx="7315200" cy="274320"/>
          </a:xfrm>
          <a:prstGeom prst="rect">
            <a:avLst/>
          </a:prstGeom>
          <a:noFill/>
        </p:spPr>
        <p:txBody>
          <a:bodyPr wrap="square" lIns="45720" rIns="45720" anchor="t">
            <a:spAutoFit/>
          </a:bodyPr>
          <a:lstStyle/>
          <a:p>
            <a:pPr>
              <a:defRPr sz="900" b="0">
                <a:solidFill>
                  <a:srgbClr val="94A3B8"/>
                </a:solidFill>
                <a:latin typeface="Segoe UI"/>
              </a:defRPr>
            </a:pPr>
            <a:r>
              <a:t>BLOODTRACE™ — MNIT JAIPUR • DEVANSH LILA • CONFIDENTIAL &amp; PROPRIETARY</a:t>
            </a:r>
          </a:p>
        </p:txBody>
      </p:sp>
      <p:sp>
        <p:nvSpPr>
          <p:cNvPr id="7" name="Rounded Rectangle 6"/>
          <p:cNvSpPr/>
          <p:nvPr/>
        </p:nvSpPr>
        <p:spPr>
          <a:xfrm>
            <a:off x="685800" y="1371600"/>
            <a:ext cx="5303520" cy="480060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508760"/>
            <a:ext cx="4937760" cy="320040"/>
          </a:xfrm>
          <a:prstGeom prst="rect">
            <a:avLst/>
          </a:prstGeom>
          <a:noFill/>
        </p:spPr>
        <p:txBody>
          <a:bodyPr wrap="square" lIns="45720" rIns="45720" anchor="t">
            <a:spAutoFit/>
          </a:bodyPr>
          <a:lstStyle/>
          <a:p>
            <a:pPr>
              <a:defRPr sz="1300" b="1">
                <a:solidFill>
                  <a:srgbClr val="06B6D4"/>
                </a:solidFill>
                <a:latin typeface="Segoe UI"/>
              </a:defRPr>
            </a:pPr>
            <a:r>
              <a:t>FOUR CONTROLLED EXPERIMENTAL TEST GROUPS</a:t>
            </a:r>
          </a:p>
        </p:txBody>
      </p:sp>
      <p:sp>
        <p:nvSpPr>
          <p:cNvPr id="9" name="TextBox 8"/>
          <p:cNvSpPr txBox="1"/>
          <p:nvPr/>
        </p:nvSpPr>
        <p:spPr>
          <a:xfrm>
            <a:off x="868680" y="1874519"/>
            <a:ext cx="4937760" cy="274320"/>
          </a:xfrm>
          <a:prstGeom prst="rect">
            <a:avLst/>
          </a:prstGeom>
          <a:noFill/>
        </p:spPr>
        <p:txBody>
          <a:bodyPr wrap="square" lIns="45720" rIns="45720" anchor="t">
            <a:spAutoFit/>
          </a:bodyPr>
          <a:lstStyle/>
          <a:p>
            <a:pPr>
              <a:defRPr sz="1200" b="1">
                <a:solidFill>
                  <a:srgbClr val="22D3EE"/>
                </a:solidFill>
                <a:latin typeface="Segoe UI"/>
              </a:defRPr>
            </a:pPr>
            <a:r>
              <a:t>1. Clean Reference Surface (Negative Control)</a:t>
            </a:r>
          </a:p>
        </p:txBody>
      </p:sp>
      <p:sp>
        <p:nvSpPr>
          <p:cNvPr id="10" name="TextBox 9"/>
          <p:cNvSpPr txBox="1"/>
          <p:nvPr/>
        </p:nvSpPr>
        <p:spPr>
          <a:xfrm>
            <a:off x="868680" y="2167127"/>
            <a:ext cx="4937760" cy="685800"/>
          </a:xfrm>
          <a:prstGeom prst="rect">
            <a:avLst/>
          </a:prstGeom>
          <a:noFill/>
        </p:spPr>
        <p:txBody>
          <a:bodyPr wrap="square" lIns="45720" rIns="45720" anchor="t">
            <a:spAutoFit/>
          </a:bodyPr>
          <a:lstStyle/>
          <a:p>
            <a:pPr>
              <a:defRPr sz="1100" b="0">
                <a:solidFill>
                  <a:srgbClr val="CBD5E1"/>
                </a:solidFill>
                <a:latin typeface="Segoe UI"/>
              </a:defRPr>
            </a:pPr>
            <a:r>
              <a:t>Electropolished AISI 316L stainless steel coupons; ultrasonic cleaned and autoclaved. Demonstrates zero false-positive rate under baseline settings.</a:t>
            </a:r>
          </a:p>
        </p:txBody>
      </p:sp>
      <p:sp>
        <p:nvSpPr>
          <p:cNvPr id="11" name="TextBox 10"/>
          <p:cNvSpPr txBox="1"/>
          <p:nvPr/>
        </p:nvSpPr>
        <p:spPr>
          <a:xfrm>
            <a:off x="868680" y="2926079"/>
            <a:ext cx="4937760" cy="274320"/>
          </a:xfrm>
          <a:prstGeom prst="rect">
            <a:avLst/>
          </a:prstGeom>
          <a:noFill/>
        </p:spPr>
        <p:txBody>
          <a:bodyPr wrap="square" lIns="45720" rIns="45720" anchor="t">
            <a:spAutoFit/>
          </a:bodyPr>
          <a:lstStyle/>
          <a:p>
            <a:pPr>
              <a:defRPr sz="1200" b="1">
                <a:solidFill>
                  <a:srgbClr val="22D3EE"/>
                </a:solidFill>
                <a:latin typeface="Segoe UI"/>
              </a:defRPr>
            </a:pPr>
            <a:r>
              <a:t>2. Surrogate Blood Challenge (Positive Challenge)</a:t>
            </a:r>
          </a:p>
        </p:txBody>
      </p:sp>
      <p:sp>
        <p:nvSpPr>
          <p:cNvPr id="12" name="TextBox 11"/>
          <p:cNvSpPr txBox="1"/>
          <p:nvPr/>
        </p:nvSpPr>
        <p:spPr>
          <a:xfrm>
            <a:off x="868680" y="3218687"/>
            <a:ext cx="4937760" cy="685800"/>
          </a:xfrm>
          <a:prstGeom prst="rect">
            <a:avLst/>
          </a:prstGeom>
          <a:noFill/>
        </p:spPr>
        <p:txBody>
          <a:bodyPr wrap="square" lIns="45720" rIns="45720" anchor="t">
            <a:spAutoFit/>
          </a:bodyPr>
          <a:lstStyle/>
          <a:p>
            <a:pPr>
              <a:defRPr sz="1100" b="0">
                <a:solidFill>
                  <a:srgbClr val="CBD5E1"/>
                </a:solidFill>
                <a:latin typeface="Segoe UI"/>
              </a:defRPr>
            </a:pPr>
            <a:r>
              <a:t>Safely prepared, non-hazardous protein/hemoglobin surrogate spots (1 μL – 50 μL) dried under controlled ambient temperature. Tests spatial recovery and detection limit.</a:t>
            </a:r>
          </a:p>
        </p:txBody>
      </p:sp>
      <p:sp>
        <p:nvSpPr>
          <p:cNvPr id="13" name="TextBox 12"/>
          <p:cNvSpPr txBox="1"/>
          <p:nvPr/>
        </p:nvSpPr>
        <p:spPr>
          <a:xfrm>
            <a:off x="868680" y="3977639"/>
            <a:ext cx="4937760" cy="274320"/>
          </a:xfrm>
          <a:prstGeom prst="rect">
            <a:avLst/>
          </a:prstGeom>
          <a:noFill/>
        </p:spPr>
        <p:txBody>
          <a:bodyPr wrap="square" lIns="45720" rIns="45720" anchor="t">
            <a:spAutoFit/>
          </a:bodyPr>
          <a:lstStyle/>
          <a:p>
            <a:pPr>
              <a:defRPr sz="1200" b="1">
                <a:solidFill>
                  <a:srgbClr val="22D3EE"/>
                </a:solidFill>
                <a:latin typeface="Segoe UI"/>
              </a:defRPr>
            </a:pPr>
            <a:r>
              <a:t>3. Detergent Residue Controls (Interference)</a:t>
            </a:r>
          </a:p>
        </p:txBody>
      </p:sp>
      <p:sp>
        <p:nvSpPr>
          <p:cNvPr id="14" name="TextBox 13"/>
          <p:cNvSpPr txBox="1"/>
          <p:nvPr/>
        </p:nvSpPr>
        <p:spPr>
          <a:xfrm>
            <a:off x="868680" y="4270248"/>
            <a:ext cx="4937760" cy="685800"/>
          </a:xfrm>
          <a:prstGeom prst="rect">
            <a:avLst/>
          </a:prstGeom>
          <a:noFill/>
        </p:spPr>
        <p:txBody>
          <a:bodyPr wrap="square" lIns="45720" rIns="45720" anchor="t">
            <a:spAutoFit/>
          </a:bodyPr>
          <a:lstStyle/>
          <a:p>
            <a:pPr>
              <a:defRPr sz="1100" b="0">
                <a:solidFill>
                  <a:srgbClr val="CBD5E1"/>
                </a:solidFill>
                <a:latin typeface="Segoe UI"/>
              </a:defRPr>
            </a:pPr>
            <a:r>
              <a:t>Surfaces dried with residual enzymatic hospital cleaning detergent. Tests whether algorithm distinguishes detergent fluorescence from true blood bioburden.</a:t>
            </a:r>
          </a:p>
        </p:txBody>
      </p:sp>
      <p:sp>
        <p:nvSpPr>
          <p:cNvPr id="15" name="TextBox 14"/>
          <p:cNvSpPr txBox="1"/>
          <p:nvPr/>
        </p:nvSpPr>
        <p:spPr>
          <a:xfrm>
            <a:off x="868680" y="5029200"/>
            <a:ext cx="4937760" cy="274320"/>
          </a:xfrm>
          <a:prstGeom prst="rect">
            <a:avLst/>
          </a:prstGeom>
          <a:noFill/>
        </p:spPr>
        <p:txBody>
          <a:bodyPr wrap="square" lIns="45720" rIns="45720" anchor="t">
            <a:spAutoFit/>
          </a:bodyPr>
          <a:lstStyle/>
          <a:p>
            <a:pPr>
              <a:defRPr sz="1200" b="1">
                <a:solidFill>
                  <a:srgbClr val="22D3EE"/>
                </a:solidFill>
                <a:latin typeface="Segoe UI"/>
              </a:defRPr>
            </a:pPr>
            <a:r>
              <a:t>4. Water Marks &amp; Mineral Scale (Confounders)</a:t>
            </a:r>
          </a:p>
        </p:txBody>
      </p:sp>
      <p:sp>
        <p:nvSpPr>
          <p:cNvPr id="16" name="TextBox 15"/>
          <p:cNvSpPr txBox="1"/>
          <p:nvPr/>
        </p:nvSpPr>
        <p:spPr>
          <a:xfrm>
            <a:off x="868680" y="5321808"/>
            <a:ext cx="4937760" cy="685800"/>
          </a:xfrm>
          <a:prstGeom prst="rect">
            <a:avLst/>
          </a:prstGeom>
          <a:noFill/>
        </p:spPr>
        <p:txBody>
          <a:bodyPr wrap="square" lIns="45720" rIns="45720" anchor="t">
            <a:spAutoFit/>
          </a:bodyPr>
          <a:lstStyle/>
          <a:p>
            <a:pPr>
              <a:defRPr sz="1100" b="0">
                <a:solidFill>
                  <a:srgbClr val="CBD5E1"/>
                </a:solidFill>
                <a:latin typeface="Segoe UI"/>
              </a:defRPr>
            </a:pPr>
            <a:r>
              <a:t>Distilled vs. tap water evaporated scale. Tests rejection of specular drying rings and inorganic salt deposits.</a:t>
            </a:r>
          </a:p>
        </p:txBody>
      </p:sp>
      <p:sp>
        <p:nvSpPr>
          <p:cNvPr id="17" name="Rounded Rectangle 16"/>
          <p:cNvSpPr/>
          <p:nvPr/>
        </p:nvSpPr>
        <p:spPr>
          <a:xfrm>
            <a:off x="6217920" y="1371600"/>
            <a:ext cx="5303520" cy="480060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1508760"/>
            <a:ext cx="4937760" cy="320040"/>
          </a:xfrm>
          <a:prstGeom prst="rect">
            <a:avLst/>
          </a:prstGeom>
          <a:noFill/>
        </p:spPr>
        <p:txBody>
          <a:bodyPr wrap="square" lIns="45720" rIns="45720" anchor="t">
            <a:spAutoFit/>
          </a:bodyPr>
          <a:lstStyle/>
          <a:p>
            <a:pPr>
              <a:defRPr sz="1300" b="1">
                <a:solidFill>
                  <a:srgbClr val="06B6D4"/>
                </a:solidFill>
                <a:latin typeface="Segoe UI"/>
              </a:defRPr>
            </a:pPr>
            <a:r>
              <a:t>STATISTICAL EVALUATION METRICS &amp; TARGET CRITERIA</a:t>
            </a:r>
          </a:p>
        </p:txBody>
      </p:sp>
      <p:sp>
        <p:nvSpPr>
          <p:cNvPr id="19" name="TextBox 18"/>
          <p:cNvSpPr txBox="1"/>
          <p:nvPr/>
        </p:nvSpPr>
        <p:spPr>
          <a:xfrm>
            <a:off x="6400800" y="1874519"/>
            <a:ext cx="3291840" cy="256032"/>
          </a:xfrm>
          <a:prstGeom prst="rect">
            <a:avLst/>
          </a:prstGeom>
          <a:noFill/>
        </p:spPr>
        <p:txBody>
          <a:bodyPr wrap="square" lIns="45720" rIns="45720" anchor="t">
            <a:spAutoFit/>
          </a:bodyPr>
          <a:lstStyle/>
          <a:p>
            <a:pPr>
              <a:defRPr sz="1200" b="1">
                <a:solidFill>
                  <a:srgbClr val="F8FAFC"/>
                </a:solidFill>
                <a:latin typeface="Segoe UI"/>
              </a:defRPr>
            </a:pPr>
            <a:r>
              <a:t>Sensitivity (True Positive Rate)</a:t>
            </a:r>
          </a:p>
        </p:txBody>
      </p:sp>
      <p:sp>
        <p:nvSpPr>
          <p:cNvPr id="20" name="TextBox 19"/>
          <p:cNvSpPr txBox="1"/>
          <p:nvPr/>
        </p:nvSpPr>
        <p:spPr>
          <a:xfrm>
            <a:off x="9692640" y="1874519"/>
            <a:ext cx="1645920" cy="256032"/>
          </a:xfrm>
          <a:prstGeom prst="rect">
            <a:avLst/>
          </a:prstGeom>
          <a:noFill/>
        </p:spPr>
        <p:txBody>
          <a:bodyPr wrap="square" lIns="45720" rIns="45720" anchor="t">
            <a:spAutoFit/>
          </a:bodyPr>
          <a:lstStyle/>
          <a:p>
            <a:pPr algn="r">
              <a:defRPr sz="1100" b="1">
                <a:solidFill>
                  <a:srgbClr val="10B981"/>
                </a:solidFill>
                <a:latin typeface="Segoe UI"/>
              </a:defRPr>
            </a:pPr>
            <a:r>
              <a:t>Target: ≥ 92%</a:t>
            </a:r>
          </a:p>
        </p:txBody>
      </p:sp>
      <p:sp>
        <p:nvSpPr>
          <p:cNvPr id="21" name="TextBox 20"/>
          <p:cNvSpPr txBox="1"/>
          <p:nvPr/>
        </p:nvSpPr>
        <p:spPr>
          <a:xfrm>
            <a:off x="6400800" y="2130552"/>
            <a:ext cx="4937760" cy="228600"/>
          </a:xfrm>
          <a:prstGeom prst="rect">
            <a:avLst/>
          </a:prstGeom>
          <a:noFill/>
        </p:spPr>
        <p:txBody>
          <a:bodyPr wrap="square" lIns="45720" rIns="45720" anchor="t">
            <a:spAutoFit/>
          </a:bodyPr>
          <a:lstStyle/>
          <a:p>
            <a:pPr>
              <a:defRPr sz="1000" b="0">
                <a:solidFill>
                  <a:srgbClr val="06B6D4"/>
                </a:solidFill>
                <a:latin typeface="Segoe UI"/>
              </a:defRPr>
            </a:pPr>
            <a:r>
              <a:t>Formula:  TP / (TP + FN) × 100%</a:t>
            </a:r>
          </a:p>
        </p:txBody>
      </p:sp>
      <p:sp>
        <p:nvSpPr>
          <p:cNvPr id="22" name="TextBox 21"/>
          <p:cNvSpPr txBox="1"/>
          <p:nvPr/>
        </p:nvSpPr>
        <p:spPr>
          <a:xfrm>
            <a:off x="6400800" y="2350008"/>
            <a:ext cx="4937760" cy="502920"/>
          </a:xfrm>
          <a:prstGeom prst="rect">
            <a:avLst/>
          </a:prstGeom>
          <a:noFill/>
        </p:spPr>
        <p:txBody>
          <a:bodyPr wrap="square" lIns="45720" rIns="45720" anchor="t">
            <a:spAutoFit/>
          </a:bodyPr>
          <a:lstStyle/>
          <a:p>
            <a:pPr>
              <a:defRPr sz="1050" b="0">
                <a:solidFill>
                  <a:srgbClr val="CBD5E1"/>
                </a:solidFill>
                <a:latin typeface="Segoe UI"/>
              </a:defRPr>
            </a:pPr>
            <a:r>
              <a:t>Measures fraction of true contaminated bioburden regions correctly flagged by the system.</a:t>
            </a:r>
          </a:p>
        </p:txBody>
      </p:sp>
      <p:sp>
        <p:nvSpPr>
          <p:cNvPr id="23" name="TextBox 22"/>
          <p:cNvSpPr txBox="1"/>
          <p:nvPr/>
        </p:nvSpPr>
        <p:spPr>
          <a:xfrm>
            <a:off x="6400800" y="2926079"/>
            <a:ext cx="3291840" cy="256032"/>
          </a:xfrm>
          <a:prstGeom prst="rect">
            <a:avLst/>
          </a:prstGeom>
          <a:noFill/>
        </p:spPr>
        <p:txBody>
          <a:bodyPr wrap="square" lIns="45720" rIns="45720" anchor="t">
            <a:spAutoFit/>
          </a:bodyPr>
          <a:lstStyle/>
          <a:p>
            <a:pPr>
              <a:defRPr sz="1200" b="1">
                <a:solidFill>
                  <a:srgbClr val="F8FAFC"/>
                </a:solidFill>
                <a:latin typeface="Segoe UI"/>
              </a:defRPr>
            </a:pPr>
            <a:r>
              <a:t>Specificity (True Negative Rate)</a:t>
            </a:r>
          </a:p>
        </p:txBody>
      </p:sp>
      <p:sp>
        <p:nvSpPr>
          <p:cNvPr id="24" name="TextBox 23"/>
          <p:cNvSpPr txBox="1"/>
          <p:nvPr/>
        </p:nvSpPr>
        <p:spPr>
          <a:xfrm>
            <a:off x="9692640" y="2926079"/>
            <a:ext cx="1645920" cy="256032"/>
          </a:xfrm>
          <a:prstGeom prst="rect">
            <a:avLst/>
          </a:prstGeom>
          <a:noFill/>
        </p:spPr>
        <p:txBody>
          <a:bodyPr wrap="square" lIns="45720" rIns="45720" anchor="t">
            <a:spAutoFit/>
          </a:bodyPr>
          <a:lstStyle/>
          <a:p>
            <a:pPr algn="r">
              <a:defRPr sz="1100" b="1">
                <a:solidFill>
                  <a:srgbClr val="10B981"/>
                </a:solidFill>
                <a:latin typeface="Segoe UI"/>
              </a:defRPr>
            </a:pPr>
            <a:r>
              <a:t>Target: ≥ 95%</a:t>
            </a:r>
          </a:p>
        </p:txBody>
      </p:sp>
      <p:sp>
        <p:nvSpPr>
          <p:cNvPr id="25" name="TextBox 24"/>
          <p:cNvSpPr txBox="1"/>
          <p:nvPr/>
        </p:nvSpPr>
        <p:spPr>
          <a:xfrm>
            <a:off x="6400800" y="3182111"/>
            <a:ext cx="4937760" cy="228600"/>
          </a:xfrm>
          <a:prstGeom prst="rect">
            <a:avLst/>
          </a:prstGeom>
          <a:noFill/>
        </p:spPr>
        <p:txBody>
          <a:bodyPr wrap="square" lIns="45720" rIns="45720" anchor="t">
            <a:spAutoFit/>
          </a:bodyPr>
          <a:lstStyle/>
          <a:p>
            <a:pPr>
              <a:defRPr sz="1000" b="0">
                <a:solidFill>
                  <a:srgbClr val="06B6D4"/>
                </a:solidFill>
                <a:latin typeface="Segoe UI"/>
              </a:defRPr>
            </a:pPr>
            <a:r>
              <a:t>Formula:  TN / (TN + FP) × 100%</a:t>
            </a:r>
          </a:p>
        </p:txBody>
      </p:sp>
      <p:sp>
        <p:nvSpPr>
          <p:cNvPr id="26" name="TextBox 25"/>
          <p:cNvSpPr txBox="1"/>
          <p:nvPr/>
        </p:nvSpPr>
        <p:spPr>
          <a:xfrm>
            <a:off x="6400800" y="3401568"/>
            <a:ext cx="4937760" cy="502920"/>
          </a:xfrm>
          <a:prstGeom prst="rect">
            <a:avLst/>
          </a:prstGeom>
          <a:noFill/>
        </p:spPr>
        <p:txBody>
          <a:bodyPr wrap="square" lIns="45720" rIns="45720" anchor="t">
            <a:spAutoFit/>
          </a:bodyPr>
          <a:lstStyle/>
          <a:p>
            <a:pPr>
              <a:defRPr sz="1050" b="0">
                <a:solidFill>
                  <a:srgbClr val="CBD5E1"/>
                </a:solidFill>
                <a:latin typeface="Segoe UI"/>
              </a:defRPr>
            </a:pPr>
            <a:r>
              <a:t>Measures fraction of clean steel surfaces correctly left unflagged without nuisance alarms.</a:t>
            </a:r>
          </a:p>
        </p:txBody>
      </p:sp>
      <p:sp>
        <p:nvSpPr>
          <p:cNvPr id="27" name="TextBox 26"/>
          <p:cNvSpPr txBox="1"/>
          <p:nvPr/>
        </p:nvSpPr>
        <p:spPr>
          <a:xfrm>
            <a:off x="6400800" y="3977639"/>
            <a:ext cx="3291840" cy="256032"/>
          </a:xfrm>
          <a:prstGeom prst="rect">
            <a:avLst/>
          </a:prstGeom>
          <a:noFill/>
        </p:spPr>
        <p:txBody>
          <a:bodyPr wrap="square" lIns="45720" rIns="45720" anchor="t">
            <a:spAutoFit/>
          </a:bodyPr>
          <a:lstStyle/>
          <a:p>
            <a:pPr>
              <a:defRPr sz="1200" b="1">
                <a:solidFill>
                  <a:srgbClr val="F8FAFC"/>
                </a:solidFill>
                <a:latin typeface="Segoe UI"/>
              </a:defRPr>
            </a:pPr>
            <a:r>
              <a:t>False Positive Rate (FPR)</a:t>
            </a:r>
          </a:p>
        </p:txBody>
      </p:sp>
      <p:sp>
        <p:nvSpPr>
          <p:cNvPr id="28" name="TextBox 27"/>
          <p:cNvSpPr txBox="1"/>
          <p:nvPr/>
        </p:nvSpPr>
        <p:spPr>
          <a:xfrm>
            <a:off x="9692640" y="3977639"/>
            <a:ext cx="1645920" cy="256032"/>
          </a:xfrm>
          <a:prstGeom prst="rect">
            <a:avLst/>
          </a:prstGeom>
          <a:noFill/>
        </p:spPr>
        <p:txBody>
          <a:bodyPr wrap="square" lIns="45720" rIns="45720" anchor="t">
            <a:spAutoFit/>
          </a:bodyPr>
          <a:lstStyle/>
          <a:p>
            <a:pPr algn="r">
              <a:defRPr sz="1100" b="1">
                <a:solidFill>
                  <a:srgbClr val="10B981"/>
                </a:solidFill>
                <a:latin typeface="Segoe UI"/>
              </a:defRPr>
            </a:pPr>
            <a:r>
              <a:t>Target: ≤ 5%</a:t>
            </a:r>
          </a:p>
        </p:txBody>
      </p:sp>
      <p:sp>
        <p:nvSpPr>
          <p:cNvPr id="29" name="TextBox 28"/>
          <p:cNvSpPr txBox="1"/>
          <p:nvPr/>
        </p:nvSpPr>
        <p:spPr>
          <a:xfrm>
            <a:off x="6400800" y="4233672"/>
            <a:ext cx="4937760" cy="228600"/>
          </a:xfrm>
          <a:prstGeom prst="rect">
            <a:avLst/>
          </a:prstGeom>
          <a:noFill/>
        </p:spPr>
        <p:txBody>
          <a:bodyPr wrap="square" lIns="45720" rIns="45720" anchor="t">
            <a:spAutoFit/>
          </a:bodyPr>
          <a:lstStyle/>
          <a:p>
            <a:pPr>
              <a:defRPr sz="1000" b="0">
                <a:solidFill>
                  <a:srgbClr val="06B6D4"/>
                </a:solidFill>
                <a:latin typeface="Segoe UI"/>
              </a:defRPr>
            </a:pPr>
            <a:r>
              <a:t>Formula:  FP / (FP + TN) × 100%</a:t>
            </a:r>
          </a:p>
        </p:txBody>
      </p:sp>
      <p:sp>
        <p:nvSpPr>
          <p:cNvPr id="30" name="TextBox 29"/>
          <p:cNvSpPr txBox="1"/>
          <p:nvPr/>
        </p:nvSpPr>
        <p:spPr>
          <a:xfrm>
            <a:off x="6400800" y="4453127"/>
            <a:ext cx="4937760" cy="502920"/>
          </a:xfrm>
          <a:prstGeom prst="rect">
            <a:avLst/>
          </a:prstGeom>
          <a:noFill/>
        </p:spPr>
        <p:txBody>
          <a:bodyPr wrap="square" lIns="45720" rIns="45720" anchor="t">
            <a:spAutoFit/>
          </a:bodyPr>
          <a:lstStyle/>
          <a:p>
            <a:pPr>
              <a:defRPr sz="1050" b="0">
                <a:solidFill>
                  <a:srgbClr val="CBD5E1"/>
                </a:solidFill>
                <a:latin typeface="Segoe UI"/>
              </a:defRPr>
            </a:pPr>
            <a:r>
              <a:t>Guarantees hospital technicians are not overwhelmed by false alarms on sterile instruments.</a:t>
            </a:r>
          </a:p>
        </p:txBody>
      </p:sp>
      <p:sp>
        <p:nvSpPr>
          <p:cNvPr id="31" name="TextBox 30"/>
          <p:cNvSpPr txBox="1"/>
          <p:nvPr/>
        </p:nvSpPr>
        <p:spPr>
          <a:xfrm>
            <a:off x="6400800" y="5029200"/>
            <a:ext cx="3291840" cy="256032"/>
          </a:xfrm>
          <a:prstGeom prst="rect">
            <a:avLst/>
          </a:prstGeom>
          <a:noFill/>
        </p:spPr>
        <p:txBody>
          <a:bodyPr wrap="square" lIns="45720" rIns="45720" anchor="t">
            <a:spAutoFit/>
          </a:bodyPr>
          <a:lstStyle/>
          <a:p>
            <a:pPr>
              <a:defRPr sz="1200" b="1">
                <a:solidFill>
                  <a:srgbClr val="F8FAFC"/>
                </a:solidFill>
                <a:latin typeface="Segoe UI"/>
              </a:defRPr>
            </a:pPr>
            <a:r>
              <a:t>Intra-Sample Repeatability</a:t>
            </a:r>
          </a:p>
        </p:txBody>
      </p:sp>
      <p:sp>
        <p:nvSpPr>
          <p:cNvPr id="32" name="TextBox 31"/>
          <p:cNvSpPr txBox="1"/>
          <p:nvPr/>
        </p:nvSpPr>
        <p:spPr>
          <a:xfrm>
            <a:off x="9692640" y="5029200"/>
            <a:ext cx="1645920" cy="256032"/>
          </a:xfrm>
          <a:prstGeom prst="rect">
            <a:avLst/>
          </a:prstGeom>
          <a:noFill/>
        </p:spPr>
        <p:txBody>
          <a:bodyPr wrap="square" lIns="45720" rIns="45720" anchor="t">
            <a:spAutoFit/>
          </a:bodyPr>
          <a:lstStyle/>
          <a:p>
            <a:pPr algn="r">
              <a:defRPr sz="1100" b="1">
                <a:solidFill>
                  <a:srgbClr val="10B981"/>
                </a:solidFill>
                <a:latin typeface="Segoe UI"/>
              </a:defRPr>
            </a:pPr>
            <a:r>
              <a:t>Target: CV ≤ 4.5%</a:t>
            </a:r>
          </a:p>
        </p:txBody>
      </p:sp>
      <p:sp>
        <p:nvSpPr>
          <p:cNvPr id="33" name="TextBox 32"/>
          <p:cNvSpPr txBox="1"/>
          <p:nvPr/>
        </p:nvSpPr>
        <p:spPr>
          <a:xfrm>
            <a:off x="6400800" y="5285232"/>
            <a:ext cx="4937760" cy="228600"/>
          </a:xfrm>
          <a:prstGeom prst="rect">
            <a:avLst/>
          </a:prstGeom>
          <a:noFill/>
        </p:spPr>
        <p:txBody>
          <a:bodyPr wrap="square" lIns="45720" rIns="45720" anchor="t">
            <a:spAutoFit/>
          </a:bodyPr>
          <a:lstStyle/>
          <a:p>
            <a:pPr>
              <a:defRPr sz="1000" b="0">
                <a:solidFill>
                  <a:srgbClr val="06B6D4"/>
                </a:solidFill>
                <a:latin typeface="Segoe UI"/>
              </a:defRPr>
            </a:pPr>
            <a:r>
              <a:t>Formula:  CV = (σ / μ) × 100%</a:t>
            </a:r>
          </a:p>
        </p:txBody>
      </p:sp>
      <p:sp>
        <p:nvSpPr>
          <p:cNvPr id="34" name="TextBox 33"/>
          <p:cNvSpPr txBox="1"/>
          <p:nvPr/>
        </p:nvSpPr>
        <p:spPr>
          <a:xfrm>
            <a:off x="6400800" y="5504688"/>
            <a:ext cx="4937760" cy="502920"/>
          </a:xfrm>
          <a:prstGeom prst="rect">
            <a:avLst/>
          </a:prstGeom>
          <a:noFill/>
        </p:spPr>
        <p:txBody>
          <a:bodyPr wrap="square" lIns="45720" rIns="45720" anchor="t">
            <a:spAutoFit/>
          </a:bodyPr>
          <a:lstStyle/>
          <a:p>
            <a:pPr>
              <a:defRPr sz="1050" b="0">
                <a:solidFill>
                  <a:srgbClr val="CBD5E1"/>
                </a:solidFill>
                <a:latin typeface="Segoe UI"/>
              </a:defRPr>
            </a:pPr>
            <a:r>
              <a:t>Calculates consistency across 5 consecutive scans of the identical specimen.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F1E"/>
        </a:solidFill>
        <a:effectLst/>
      </p:bgPr>
    </p:bg>
    <p:spTree>
      <p:nvGrpSpPr>
        <p:cNvPr id="1" name=""/>
        <p:cNvGrpSpPr/>
        <p:nvPr/>
      </p:nvGrpSpPr>
      <p:grpSpPr>
        <a:xfrm>
          <a:off x="0" y="0"/>
          <a:ext cx="0" cy="0"/>
          <a:chOff x="0" y="0"/>
          <a:chExt cx="0" cy="0"/>
        </a:xfrm>
      </p:grpSpPr>
      <p:sp>
        <p:nvSpPr>
          <p:cNvPr id="2" name="TextBox 1"/>
          <p:cNvSpPr txBox="1"/>
          <p:nvPr/>
        </p:nvSpPr>
        <p:spPr>
          <a:xfrm>
            <a:off x="640080" y="278892"/>
            <a:ext cx="10789920" cy="274320"/>
          </a:xfrm>
          <a:prstGeom prst="rect">
            <a:avLst/>
          </a:prstGeom>
          <a:noFill/>
        </p:spPr>
        <p:txBody>
          <a:bodyPr wrap="square" lIns="45720" rIns="45720" anchor="t">
            <a:spAutoFit/>
          </a:bodyPr>
          <a:lstStyle/>
          <a:p>
            <a:pPr>
              <a:defRPr sz="1100" b="1">
                <a:solidFill>
                  <a:srgbClr val="06B6D4"/>
                </a:solidFill>
                <a:latin typeface="Segoe UI"/>
              </a:defRPr>
            </a:pPr>
            <a:r>
              <a:rPr dirty="0"/>
              <a:t>FUTURE SCOPE &amp; COMMERCIALIZATION</a:t>
            </a:r>
          </a:p>
        </p:txBody>
      </p:sp>
      <p:sp>
        <p:nvSpPr>
          <p:cNvPr id="3" name="TextBox 2"/>
          <p:cNvSpPr txBox="1"/>
          <p:nvPr/>
        </p:nvSpPr>
        <p:spPr>
          <a:xfrm>
            <a:off x="640080" y="507492"/>
            <a:ext cx="10789920" cy="502920"/>
          </a:xfrm>
          <a:prstGeom prst="rect">
            <a:avLst/>
          </a:prstGeom>
          <a:noFill/>
        </p:spPr>
        <p:txBody>
          <a:bodyPr wrap="square" lIns="45720" rIns="45720" anchor="t">
            <a:spAutoFit/>
          </a:bodyPr>
          <a:lstStyle/>
          <a:p>
            <a:pPr>
              <a:defRPr sz="2400" b="1">
                <a:solidFill>
                  <a:srgbClr val="F8FAFC"/>
                </a:solidFill>
                <a:latin typeface="Segoe UI"/>
              </a:defRPr>
            </a:pPr>
            <a:r>
              <a:rPr dirty="0"/>
              <a:t>Development Roadmap: From College Proof-of-Concept to Clinical Deployment</a:t>
            </a:r>
          </a:p>
        </p:txBody>
      </p:sp>
      <p:sp>
        <p:nvSpPr>
          <p:cNvPr id="4" name="Rectangle 3"/>
          <p:cNvSpPr/>
          <p:nvPr/>
        </p:nvSpPr>
        <p:spPr>
          <a:xfrm>
            <a:off x="685800" y="1339547"/>
            <a:ext cx="7772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548640" cy="274320"/>
          </a:xfrm>
          <a:prstGeom prst="rect">
            <a:avLst/>
          </a:prstGeom>
          <a:noFill/>
        </p:spPr>
        <p:txBody>
          <a:bodyPr wrap="square" lIns="45720" rIns="45720" anchor="t">
            <a:spAutoFit/>
          </a:bodyPr>
          <a:lstStyle/>
          <a:p>
            <a:pPr algn="r">
              <a:defRPr sz="1000" b="0">
                <a:solidFill>
                  <a:srgbClr val="94A3B8"/>
                </a:solidFill>
                <a:latin typeface="Segoe UI"/>
              </a:defRPr>
            </a:pPr>
            <a:r>
              <a:t>08 / 09</a:t>
            </a:r>
          </a:p>
        </p:txBody>
      </p:sp>
      <p:sp>
        <p:nvSpPr>
          <p:cNvPr id="6" name="TextBox 5"/>
          <p:cNvSpPr txBox="1"/>
          <p:nvPr/>
        </p:nvSpPr>
        <p:spPr>
          <a:xfrm>
            <a:off x="685800" y="6446520"/>
            <a:ext cx="7315200" cy="274320"/>
          </a:xfrm>
          <a:prstGeom prst="rect">
            <a:avLst/>
          </a:prstGeom>
          <a:noFill/>
        </p:spPr>
        <p:txBody>
          <a:bodyPr wrap="square" lIns="45720" rIns="45720" anchor="t">
            <a:spAutoFit/>
          </a:bodyPr>
          <a:lstStyle/>
          <a:p>
            <a:pPr>
              <a:defRPr sz="900" b="0">
                <a:solidFill>
                  <a:srgbClr val="94A3B8"/>
                </a:solidFill>
                <a:latin typeface="Segoe UI"/>
              </a:defRPr>
            </a:pPr>
            <a:r>
              <a:t>BLOODTRACE™ — MNIT JAIPUR • DEVANSH LILA • CONFIDENTIAL &amp; PROPRIETARY</a:t>
            </a:r>
          </a:p>
        </p:txBody>
      </p:sp>
      <p:sp>
        <p:nvSpPr>
          <p:cNvPr id="7" name="Rounded Rectangle 6"/>
          <p:cNvSpPr/>
          <p:nvPr/>
        </p:nvSpPr>
        <p:spPr>
          <a:xfrm>
            <a:off x="685800" y="1504188"/>
            <a:ext cx="3429000" cy="4800600"/>
          </a:xfrm>
          <a:prstGeom prst="roundRect">
            <a:avLst/>
          </a:prstGeom>
          <a:solidFill>
            <a:srgbClr val="0F1B30"/>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3362" y="1691640"/>
            <a:ext cx="3063240" cy="457200"/>
          </a:xfrm>
          <a:prstGeom prst="rect">
            <a:avLst/>
          </a:prstGeom>
          <a:noFill/>
        </p:spPr>
        <p:txBody>
          <a:bodyPr wrap="square" lIns="45720" rIns="45720" anchor="t">
            <a:spAutoFit/>
          </a:bodyPr>
          <a:lstStyle/>
          <a:p>
            <a:pPr>
              <a:defRPr sz="1500" b="1">
                <a:solidFill>
                  <a:srgbClr val="14B8A6"/>
                </a:solidFill>
                <a:latin typeface="Segoe UI"/>
              </a:defRPr>
            </a:pPr>
            <a:r>
              <a:t>Phase 1: Optical Hardware Refinement</a:t>
            </a:r>
          </a:p>
        </p:txBody>
      </p:sp>
      <p:sp>
        <p:nvSpPr>
          <p:cNvPr id="9" name="TextBox 8"/>
          <p:cNvSpPr txBox="1"/>
          <p:nvPr/>
        </p:nvSpPr>
        <p:spPr>
          <a:xfrm>
            <a:off x="843362" y="2194560"/>
            <a:ext cx="3063240" cy="256032"/>
          </a:xfrm>
          <a:prstGeom prst="rect">
            <a:avLst/>
          </a:prstGeom>
          <a:noFill/>
        </p:spPr>
        <p:txBody>
          <a:bodyPr wrap="square" lIns="45720" rIns="45720" anchor="t">
            <a:spAutoFit/>
          </a:bodyPr>
          <a:lstStyle/>
          <a:p>
            <a:pPr>
              <a:defRPr sz="900" b="1">
                <a:solidFill>
                  <a:srgbClr val="94A3B8"/>
                </a:solidFill>
                <a:latin typeface="Segoe UI"/>
              </a:defRPr>
            </a:pPr>
            <a:r>
              <a:t>NEXT 6 MONTHS (LABORATORY PROTOTYPE)</a:t>
            </a:r>
          </a:p>
        </p:txBody>
      </p:sp>
      <p:sp>
        <p:nvSpPr>
          <p:cNvPr id="10" name="Rectangle 9"/>
          <p:cNvSpPr/>
          <p:nvPr/>
        </p:nvSpPr>
        <p:spPr>
          <a:xfrm>
            <a:off x="843362" y="2514600"/>
            <a:ext cx="306324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3362" y="2651760"/>
            <a:ext cx="3063240" cy="3520440"/>
          </a:xfrm>
          <a:prstGeom prst="rect">
            <a:avLst/>
          </a:prstGeom>
          <a:noFill/>
        </p:spPr>
        <p:txBody>
          <a:bodyPr wrap="square" lIns="45720" rIns="45720" anchor="t">
            <a:spAutoFit/>
          </a:bodyPr>
          <a:lstStyle/>
          <a:p>
            <a:pPr>
              <a:defRPr sz="1150" b="0">
                <a:solidFill>
                  <a:srgbClr val="CBD5E1"/>
                </a:solidFill>
                <a:latin typeface="Segoe UI"/>
              </a:defRPr>
            </a:pPr>
            <a:r>
              <a:t>• 3D-Printed Inspection Cassette: Enclosed light-tight matte chamber with integrated mechanical instrument positioning jig.</a:t>
            </a:r>
          </a:p>
          <a:p>
            <a:pPr>
              <a:defRPr sz="1150" b="0">
                <a:solidFill>
                  <a:srgbClr val="CBD5E1"/>
                </a:solidFill>
                <a:latin typeface="Segoe UI"/>
              </a:defRPr>
            </a:pPr>
            <a:r>
              <a:t>• Narrowband Optical Filters: 850nm bandpass optical filter mounted to camera lens to eliminate ambient fluorescent lamp spillover.</a:t>
            </a:r>
          </a:p>
          <a:p>
            <a:pPr>
              <a:defRPr sz="1150" b="0">
                <a:solidFill>
                  <a:srgbClr val="CBD5E1"/>
                </a:solidFill>
                <a:latin typeface="Segoe UI"/>
              </a:defRPr>
            </a:pPr>
            <a:r>
              <a:t>• Custom PCB Fabrication: Replace breadboard with integrated STM32/ESP32-S3 PCB, onboard MOSFET gate drivers, and low-noise LDOs.</a:t>
            </a:r>
          </a:p>
        </p:txBody>
      </p:sp>
      <p:sp>
        <p:nvSpPr>
          <p:cNvPr id="12" name="Rounded Rectangle 11"/>
          <p:cNvSpPr/>
          <p:nvPr/>
        </p:nvSpPr>
        <p:spPr>
          <a:xfrm>
            <a:off x="4422181" y="1504188"/>
            <a:ext cx="3429000" cy="4800600"/>
          </a:xfrm>
          <a:prstGeom prst="roundRect">
            <a:avLst/>
          </a:prstGeom>
          <a:solidFill>
            <a:srgbClr val="0F1B30"/>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6682" y="1691640"/>
            <a:ext cx="3063240" cy="457200"/>
          </a:xfrm>
          <a:prstGeom prst="rect">
            <a:avLst/>
          </a:prstGeom>
          <a:noFill/>
        </p:spPr>
        <p:txBody>
          <a:bodyPr wrap="square" lIns="45720" rIns="45720" anchor="t">
            <a:spAutoFit/>
          </a:bodyPr>
          <a:lstStyle/>
          <a:p>
            <a:pPr>
              <a:defRPr sz="1500" b="1">
                <a:solidFill>
                  <a:srgbClr val="06B6D4"/>
                </a:solidFill>
                <a:latin typeface="Segoe UI"/>
              </a:defRPr>
            </a:pPr>
            <a:r>
              <a:t>Phase 2: Algorithmic Machine Learning</a:t>
            </a:r>
          </a:p>
        </p:txBody>
      </p:sp>
      <p:sp>
        <p:nvSpPr>
          <p:cNvPr id="14" name="TextBox 13"/>
          <p:cNvSpPr txBox="1"/>
          <p:nvPr/>
        </p:nvSpPr>
        <p:spPr>
          <a:xfrm>
            <a:off x="4546682" y="2194560"/>
            <a:ext cx="3063240" cy="256032"/>
          </a:xfrm>
          <a:prstGeom prst="rect">
            <a:avLst/>
          </a:prstGeom>
          <a:noFill/>
        </p:spPr>
        <p:txBody>
          <a:bodyPr wrap="square" lIns="45720" rIns="45720" anchor="t">
            <a:spAutoFit/>
          </a:bodyPr>
          <a:lstStyle/>
          <a:p>
            <a:pPr>
              <a:defRPr sz="900" b="1">
                <a:solidFill>
                  <a:srgbClr val="94A3B8"/>
                </a:solidFill>
                <a:latin typeface="Segoe UI"/>
              </a:defRPr>
            </a:pPr>
            <a:r>
              <a:t>MONTHS 6 – 12 (ALGORITHM &amp; EDGE AI)</a:t>
            </a:r>
          </a:p>
        </p:txBody>
      </p:sp>
      <p:sp>
        <p:nvSpPr>
          <p:cNvPr id="15" name="Rectangle 14"/>
          <p:cNvSpPr/>
          <p:nvPr/>
        </p:nvSpPr>
        <p:spPr>
          <a:xfrm>
            <a:off x="4546682" y="2514600"/>
            <a:ext cx="306324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46682" y="2651760"/>
            <a:ext cx="3063240" cy="3520440"/>
          </a:xfrm>
          <a:prstGeom prst="rect">
            <a:avLst/>
          </a:prstGeom>
          <a:noFill/>
        </p:spPr>
        <p:txBody>
          <a:bodyPr wrap="square" lIns="45720" rIns="45720" anchor="t">
            <a:spAutoFit/>
          </a:bodyPr>
          <a:lstStyle/>
          <a:p>
            <a:pPr>
              <a:defRPr sz="1150" b="0">
                <a:solidFill>
                  <a:srgbClr val="CBD5E1"/>
                </a:solidFill>
                <a:latin typeface="Segoe UI"/>
              </a:defRPr>
            </a:pPr>
            <a:r>
              <a:t>• Lightweight Edge Neural Network: Train MobileNetV4 / YOLOv8-nano on multi-hospital surgical tool imagery for joint localization.</a:t>
            </a:r>
          </a:p>
          <a:p>
            <a:pPr>
              <a:defRPr sz="1150" b="0">
                <a:solidFill>
                  <a:srgbClr val="CBD5E1"/>
                </a:solidFill>
                <a:latin typeface="Segoe UI"/>
              </a:defRPr>
            </a:pPr>
            <a:r>
              <a:t>• Multi-Alloy Spectral Library: Extend optical compensation models to matte satin, bead-blasted, and titanium nitride (TiN) gold finishes.</a:t>
            </a:r>
          </a:p>
          <a:p>
            <a:pPr>
              <a:defRPr sz="1150" b="0">
                <a:solidFill>
                  <a:srgbClr val="CBD5E1"/>
                </a:solidFill>
                <a:latin typeface="Segoe UI"/>
              </a:defRPr>
            </a:pPr>
            <a:r>
              <a:t>• Automated Box-Lock Tracking: Automatically segment high-risk anatomical crevices (box-locks, serrations, ratchets).</a:t>
            </a:r>
          </a:p>
        </p:txBody>
      </p:sp>
      <p:sp>
        <p:nvSpPr>
          <p:cNvPr id="17" name="Rounded Rectangle 16"/>
          <p:cNvSpPr/>
          <p:nvPr/>
        </p:nvSpPr>
        <p:spPr>
          <a:xfrm>
            <a:off x="8092440" y="1501730"/>
            <a:ext cx="3429000" cy="4800600"/>
          </a:xfrm>
          <a:prstGeom prst="roundRect">
            <a:avLst/>
          </a:prstGeom>
          <a:solidFill>
            <a:srgbClr val="0F1B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50001" y="1691640"/>
            <a:ext cx="3063240" cy="457200"/>
          </a:xfrm>
          <a:prstGeom prst="rect">
            <a:avLst/>
          </a:prstGeom>
          <a:noFill/>
        </p:spPr>
        <p:txBody>
          <a:bodyPr wrap="square" lIns="45720" rIns="45720" anchor="t">
            <a:spAutoFit/>
          </a:bodyPr>
          <a:lstStyle/>
          <a:p>
            <a:pPr>
              <a:defRPr sz="1500" b="1">
                <a:solidFill>
                  <a:srgbClr val="F59E0B"/>
                </a:solidFill>
                <a:latin typeface="Segoe UI"/>
              </a:defRPr>
            </a:pPr>
            <a:r>
              <a:t>Phase 3: IP &amp; Hospital Clinical Validation</a:t>
            </a:r>
          </a:p>
        </p:txBody>
      </p:sp>
      <p:sp>
        <p:nvSpPr>
          <p:cNvPr id="19" name="TextBox 18"/>
          <p:cNvSpPr txBox="1"/>
          <p:nvPr/>
        </p:nvSpPr>
        <p:spPr>
          <a:xfrm>
            <a:off x="8250001" y="2194560"/>
            <a:ext cx="3063240" cy="256032"/>
          </a:xfrm>
          <a:prstGeom prst="rect">
            <a:avLst/>
          </a:prstGeom>
          <a:noFill/>
        </p:spPr>
        <p:txBody>
          <a:bodyPr wrap="square" lIns="45720" rIns="45720" anchor="t">
            <a:spAutoFit/>
          </a:bodyPr>
          <a:lstStyle/>
          <a:p>
            <a:pPr>
              <a:defRPr sz="900" b="1">
                <a:solidFill>
                  <a:srgbClr val="94A3B8"/>
                </a:solidFill>
                <a:latin typeface="Segoe UI"/>
              </a:defRPr>
            </a:pPr>
            <a:r>
              <a:t>MONTHS 12 – 18 (TRANSLATION &amp; DILIGENCE)</a:t>
            </a:r>
          </a:p>
        </p:txBody>
      </p:sp>
      <p:sp>
        <p:nvSpPr>
          <p:cNvPr id="20" name="Rectangle 19"/>
          <p:cNvSpPr/>
          <p:nvPr/>
        </p:nvSpPr>
        <p:spPr>
          <a:xfrm>
            <a:off x="8250001" y="2514600"/>
            <a:ext cx="3063240" cy="9144"/>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50001" y="2651760"/>
            <a:ext cx="3063240" cy="3520440"/>
          </a:xfrm>
          <a:prstGeom prst="rect">
            <a:avLst/>
          </a:prstGeom>
          <a:noFill/>
        </p:spPr>
        <p:txBody>
          <a:bodyPr wrap="square" lIns="45720" rIns="45720" anchor="t">
            <a:spAutoFit/>
          </a:bodyPr>
          <a:lstStyle/>
          <a:p>
            <a:pPr>
              <a:defRPr sz="1150" b="0">
                <a:solidFill>
                  <a:srgbClr val="CBD5E1"/>
                </a:solidFill>
                <a:latin typeface="Segoe UI"/>
              </a:defRPr>
            </a:pPr>
            <a:r>
              <a:t>• Institutional IP Filing: File provisional patent via MNIT Jaipur IPR cell covering dual-wavelength optical geometry &amp; NDI algorithm.</a:t>
            </a:r>
          </a:p>
          <a:p>
            <a:pPr>
              <a:defRPr sz="1150" b="0">
                <a:solidFill>
                  <a:srgbClr val="CBD5E1"/>
                </a:solidFill>
                <a:latin typeface="Segoe UI"/>
              </a:defRPr>
            </a:pPr>
            <a:r>
              <a:t>• Hospital Trial Partnership: Pilot non-clinical bench testing with SMS Hospital / Medical College Central Sterile Processing Department (CSSD).</a:t>
            </a:r>
          </a:p>
          <a:p>
            <a:pPr>
              <a:defRPr sz="1150" b="0">
                <a:solidFill>
                  <a:srgbClr val="CBD5E1"/>
                </a:solidFill>
                <a:latin typeface="Segoe UI"/>
              </a:defRPr>
            </a:pPr>
            <a:r>
              <a:t>• Regulatory Pathway: Target FDA 510(k) Class II clearance as an accessory to medical device washer-disinfectors.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F1E"/>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10789920" cy="274320"/>
          </a:xfrm>
          <a:prstGeom prst="rect">
            <a:avLst/>
          </a:prstGeom>
          <a:noFill/>
        </p:spPr>
        <p:txBody>
          <a:bodyPr wrap="square" lIns="45720" rIns="45720" anchor="t">
            <a:spAutoFit/>
          </a:bodyPr>
          <a:lstStyle/>
          <a:p>
            <a:pPr>
              <a:defRPr sz="1100" b="1">
                <a:solidFill>
                  <a:srgbClr val="06B6D4"/>
                </a:solidFill>
                <a:latin typeface="Segoe UI"/>
              </a:defRPr>
            </a:pPr>
            <a:r>
              <a:t>REFERENCES &amp; REGULATORY COMPLIANCE</a:t>
            </a:r>
          </a:p>
        </p:txBody>
      </p:sp>
      <p:sp>
        <p:nvSpPr>
          <p:cNvPr id="3" name="TextBox 2"/>
          <p:cNvSpPr txBox="1"/>
          <p:nvPr/>
        </p:nvSpPr>
        <p:spPr>
          <a:xfrm>
            <a:off x="658368" y="594360"/>
            <a:ext cx="10789920" cy="502920"/>
          </a:xfrm>
          <a:prstGeom prst="rect">
            <a:avLst/>
          </a:prstGeom>
          <a:noFill/>
        </p:spPr>
        <p:txBody>
          <a:bodyPr wrap="square" lIns="45720" rIns="45720" anchor="t">
            <a:spAutoFit/>
          </a:bodyPr>
          <a:lstStyle/>
          <a:p>
            <a:pPr>
              <a:defRPr sz="2400" b="1">
                <a:solidFill>
                  <a:srgbClr val="F8FAFC"/>
                </a:solidFill>
                <a:latin typeface="Segoe UI"/>
              </a:defRPr>
            </a:pPr>
            <a:r>
              <a:t>Academic Literature, Infection Control Guidelines &amp; Responsible Disclaimers</a:t>
            </a:r>
          </a:p>
        </p:txBody>
      </p:sp>
      <p:sp>
        <p:nvSpPr>
          <p:cNvPr id="4" name="Rectangle 3"/>
          <p:cNvSpPr/>
          <p:nvPr/>
        </p:nvSpPr>
        <p:spPr>
          <a:xfrm>
            <a:off x="685800" y="1389151"/>
            <a:ext cx="77724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6446520"/>
            <a:ext cx="548640" cy="274320"/>
          </a:xfrm>
          <a:prstGeom prst="rect">
            <a:avLst/>
          </a:prstGeom>
          <a:noFill/>
        </p:spPr>
        <p:txBody>
          <a:bodyPr wrap="square" lIns="45720" rIns="45720" anchor="t">
            <a:spAutoFit/>
          </a:bodyPr>
          <a:lstStyle/>
          <a:p>
            <a:pPr algn="r">
              <a:defRPr sz="1000" b="0">
                <a:solidFill>
                  <a:srgbClr val="94A3B8"/>
                </a:solidFill>
                <a:latin typeface="Segoe UI"/>
              </a:defRPr>
            </a:pPr>
            <a:r>
              <a:t>09 / 09</a:t>
            </a:r>
          </a:p>
        </p:txBody>
      </p:sp>
      <p:sp>
        <p:nvSpPr>
          <p:cNvPr id="6" name="TextBox 5"/>
          <p:cNvSpPr txBox="1"/>
          <p:nvPr/>
        </p:nvSpPr>
        <p:spPr>
          <a:xfrm>
            <a:off x="685800" y="6446520"/>
            <a:ext cx="7315200" cy="274320"/>
          </a:xfrm>
          <a:prstGeom prst="rect">
            <a:avLst/>
          </a:prstGeom>
          <a:noFill/>
        </p:spPr>
        <p:txBody>
          <a:bodyPr wrap="square" lIns="45720" rIns="45720" anchor="t">
            <a:spAutoFit/>
          </a:bodyPr>
          <a:lstStyle/>
          <a:p>
            <a:pPr>
              <a:defRPr sz="900" b="0">
                <a:solidFill>
                  <a:srgbClr val="94A3B8"/>
                </a:solidFill>
                <a:latin typeface="Segoe UI"/>
              </a:defRPr>
            </a:pPr>
            <a:r>
              <a:t>BLOODTRACE™ — MNIT JAIPUR • DEVANSH LILA • CONFIDENTIAL &amp; PROPRIETARY</a:t>
            </a:r>
          </a:p>
        </p:txBody>
      </p:sp>
      <p:sp>
        <p:nvSpPr>
          <p:cNvPr id="7" name="Rounded Rectangle 6"/>
          <p:cNvSpPr/>
          <p:nvPr/>
        </p:nvSpPr>
        <p:spPr>
          <a:xfrm>
            <a:off x="685800" y="1490472"/>
            <a:ext cx="10835640" cy="3108960"/>
          </a:xfrm>
          <a:prstGeom prst="roundRect">
            <a:avLst/>
          </a:prstGeom>
          <a:solidFill>
            <a:srgbClr val="0F1B30"/>
          </a:solidFill>
          <a:ln w="1270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914400" y="1508760"/>
            <a:ext cx="10378440" cy="320040"/>
          </a:xfrm>
          <a:prstGeom prst="rect">
            <a:avLst/>
          </a:prstGeom>
          <a:noFill/>
        </p:spPr>
        <p:txBody>
          <a:bodyPr wrap="square" lIns="45720" rIns="45720" anchor="t">
            <a:spAutoFit/>
          </a:bodyPr>
          <a:lstStyle/>
          <a:p>
            <a:pPr>
              <a:defRPr sz="1100" b="1">
                <a:solidFill>
                  <a:srgbClr val="06B6D4"/>
                </a:solidFill>
                <a:latin typeface="Segoe UI"/>
              </a:defRPr>
            </a:pPr>
            <a:r>
              <a:t>AUTHORITATIVE REGULATORY &amp; SCIENTIFIC CITATIONS</a:t>
            </a:r>
          </a:p>
        </p:txBody>
      </p:sp>
      <p:sp>
        <p:nvSpPr>
          <p:cNvPr id="9" name="TextBox 8"/>
          <p:cNvSpPr txBox="1"/>
          <p:nvPr/>
        </p:nvSpPr>
        <p:spPr>
          <a:xfrm>
            <a:off x="914400" y="1874519"/>
            <a:ext cx="10378440" cy="228600"/>
          </a:xfrm>
          <a:prstGeom prst="rect">
            <a:avLst/>
          </a:prstGeom>
          <a:noFill/>
        </p:spPr>
        <p:txBody>
          <a:bodyPr wrap="square" lIns="45720" rIns="45720" anchor="t">
            <a:spAutoFit/>
          </a:bodyPr>
          <a:lstStyle/>
          <a:p>
            <a:pPr>
              <a:defRPr sz="1100" b="1">
                <a:solidFill>
                  <a:srgbClr val="22D3EE"/>
                </a:solidFill>
                <a:latin typeface="Segoe UI"/>
              </a:defRPr>
            </a:pPr>
            <a:r>
              <a:t>1. U.S. Food and Drug Administration (FDA)</a:t>
            </a:r>
          </a:p>
        </p:txBody>
      </p:sp>
      <p:sp>
        <p:nvSpPr>
          <p:cNvPr id="10" name="TextBox 9"/>
          <p:cNvSpPr txBox="1"/>
          <p:nvPr/>
        </p:nvSpPr>
        <p:spPr>
          <a:xfrm>
            <a:off x="914400" y="2075688"/>
            <a:ext cx="10378440" cy="228600"/>
          </a:xfrm>
          <a:prstGeom prst="rect">
            <a:avLst/>
          </a:prstGeom>
          <a:noFill/>
        </p:spPr>
        <p:txBody>
          <a:bodyPr wrap="square" lIns="45720" rIns="45720" anchor="t">
            <a:spAutoFit/>
          </a:bodyPr>
          <a:lstStyle/>
          <a:p>
            <a:pPr>
              <a:defRPr sz="950" b="0">
                <a:solidFill>
                  <a:srgbClr val="CBD5E1"/>
                </a:solidFill>
                <a:latin typeface="Segoe UI"/>
              </a:defRPr>
            </a:pPr>
            <a:r>
              <a:t>Reprocessing Medical Devices in Health Care Settings: Validation Methods and Labeling. Guidance for Industry and FDA Staff. — https://www.fda.gov/medical-devices/reprocessing-reusable-medical-devices/how-are-reusable-medical-devices-reprocessed</a:t>
            </a:r>
          </a:p>
        </p:txBody>
      </p:sp>
      <p:sp>
        <p:nvSpPr>
          <p:cNvPr id="11" name="TextBox 10"/>
          <p:cNvSpPr txBox="1"/>
          <p:nvPr/>
        </p:nvSpPr>
        <p:spPr>
          <a:xfrm>
            <a:off x="914400" y="2514600"/>
            <a:ext cx="10378440" cy="228600"/>
          </a:xfrm>
          <a:prstGeom prst="rect">
            <a:avLst/>
          </a:prstGeom>
          <a:noFill/>
        </p:spPr>
        <p:txBody>
          <a:bodyPr wrap="square" lIns="45720" rIns="45720" anchor="t">
            <a:spAutoFit/>
          </a:bodyPr>
          <a:lstStyle/>
          <a:p>
            <a:pPr>
              <a:defRPr sz="1100" b="1">
                <a:solidFill>
                  <a:srgbClr val="22D3EE"/>
                </a:solidFill>
                <a:latin typeface="Segoe UI"/>
              </a:defRPr>
            </a:pPr>
            <a:r>
              <a:t>2. Centers for Disease Control and Prevention (CDC / HICPAC)</a:t>
            </a:r>
          </a:p>
        </p:txBody>
      </p:sp>
      <p:sp>
        <p:nvSpPr>
          <p:cNvPr id="12" name="TextBox 11"/>
          <p:cNvSpPr txBox="1"/>
          <p:nvPr/>
        </p:nvSpPr>
        <p:spPr>
          <a:xfrm>
            <a:off x="914400" y="2715768"/>
            <a:ext cx="10378440" cy="228600"/>
          </a:xfrm>
          <a:prstGeom prst="rect">
            <a:avLst/>
          </a:prstGeom>
          <a:noFill/>
        </p:spPr>
        <p:txBody>
          <a:bodyPr wrap="square" lIns="45720" rIns="45720" anchor="t">
            <a:spAutoFit/>
          </a:bodyPr>
          <a:lstStyle/>
          <a:p>
            <a:pPr>
              <a:defRPr sz="950" b="0">
                <a:solidFill>
                  <a:srgbClr val="CBD5E1"/>
                </a:solidFill>
                <a:latin typeface="Segoe UI"/>
              </a:defRPr>
            </a:pPr>
            <a:r>
              <a:t>Rutala, W. A., &amp; Weber, D. J. (2016). Disinfection and Sterilization in Healthcare Facilities: An Overview and Current Issues. Infectious Disease Clinics of North America, 30(3), 609–637. — https://www.cdc.gov/infection-control/hcp/disinfection-sterilization/healthcare-equipment.html</a:t>
            </a:r>
          </a:p>
        </p:txBody>
      </p:sp>
      <p:sp>
        <p:nvSpPr>
          <p:cNvPr id="13" name="TextBox 12"/>
          <p:cNvSpPr txBox="1"/>
          <p:nvPr/>
        </p:nvSpPr>
        <p:spPr>
          <a:xfrm>
            <a:off x="914400" y="3154679"/>
            <a:ext cx="10378440" cy="228600"/>
          </a:xfrm>
          <a:prstGeom prst="rect">
            <a:avLst/>
          </a:prstGeom>
          <a:noFill/>
        </p:spPr>
        <p:txBody>
          <a:bodyPr wrap="square" lIns="45720" rIns="45720" anchor="t">
            <a:spAutoFit/>
          </a:bodyPr>
          <a:lstStyle/>
          <a:p>
            <a:pPr>
              <a:defRPr sz="1100" b="1">
                <a:solidFill>
                  <a:srgbClr val="22D3EE"/>
                </a:solidFill>
                <a:latin typeface="Segoe UI"/>
              </a:defRPr>
            </a:pPr>
            <a:r>
              <a:t>3. PubMed Central (PMC) Bioburden Standards</a:t>
            </a:r>
          </a:p>
        </p:txBody>
      </p:sp>
      <p:sp>
        <p:nvSpPr>
          <p:cNvPr id="14" name="TextBox 13"/>
          <p:cNvSpPr txBox="1"/>
          <p:nvPr/>
        </p:nvSpPr>
        <p:spPr>
          <a:xfrm>
            <a:off x="914400" y="3355848"/>
            <a:ext cx="10378440" cy="228600"/>
          </a:xfrm>
          <a:prstGeom prst="rect">
            <a:avLst/>
          </a:prstGeom>
          <a:noFill/>
        </p:spPr>
        <p:txBody>
          <a:bodyPr wrap="square" lIns="45720" rIns="45720" anchor="t">
            <a:spAutoFit/>
          </a:bodyPr>
          <a:lstStyle/>
          <a:p>
            <a:pPr>
              <a:defRPr sz="950" b="0">
                <a:solidFill>
                  <a:srgbClr val="CBD5E1"/>
                </a:solidFill>
                <a:latin typeface="Segoe UI"/>
              </a:defRPr>
            </a:pPr>
            <a:r>
              <a:t>Residual protein and bioburden evaluation on reusable surgical instruments: Limits of naked-eye visual inspection. PMCID: PMC8909895 / PMC7134755. — https://pmc.ncbi.nlm.nih.gov/articles/PMC8909895/</a:t>
            </a:r>
          </a:p>
        </p:txBody>
      </p:sp>
      <p:sp>
        <p:nvSpPr>
          <p:cNvPr id="15" name="TextBox 14"/>
          <p:cNvSpPr txBox="1"/>
          <p:nvPr/>
        </p:nvSpPr>
        <p:spPr>
          <a:xfrm>
            <a:off x="914400" y="3794759"/>
            <a:ext cx="10378440" cy="228600"/>
          </a:xfrm>
          <a:prstGeom prst="rect">
            <a:avLst/>
          </a:prstGeom>
          <a:noFill/>
        </p:spPr>
        <p:txBody>
          <a:bodyPr wrap="square" lIns="45720" rIns="45720" anchor="t">
            <a:spAutoFit/>
          </a:bodyPr>
          <a:lstStyle/>
          <a:p>
            <a:pPr>
              <a:defRPr sz="1100" b="1">
                <a:solidFill>
                  <a:srgbClr val="22D3EE"/>
                </a:solidFill>
                <a:latin typeface="Segoe UI"/>
              </a:defRPr>
            </a:pPr>
            <a:r>
              <a:t>4. Association for the Advancement of Medical Instrumentation (AAMI)</a:t>
            </a:r>
          </a:p>
        </p:txBody>
      </p:sp>
      <p:sp>
        <p:nvSpPr>
          <p:cNvPr id="16" name="TextBox 15"/>
          <p:cNvSpPr txBox="1"/>
          <p:nvPr/>
        </p:nvSpPr>
        <p:spPr>
          <a:xfrm>
            <a:off x="914400" y="3995927"/>
            <a:ext cx="10378440" cy="228600"/>
          </a:xfrm>
          <a:prstGeom prst="rect">
            <a:avLst/>
          </a:prstGeom>
          <a:noFill/>
        </p:spPr>
        <p:txBody>
          <a:bodyPr wrap="square" lIns="45720" rIns="45720" anchor="t">
            <a:spAutoFit/>
          </a:bodyPr>
          <a:lstStyle/>
          <a:p>
            <a:pPr>
              <a:defRPr sz="950" b="0">
                <a:solidFill>
                  <a:srgbClr val="CBD5E1"/>
                </a:solidFill>
                <a:latin typeface="Segoe UI"/>
              </a:defRPr>
            </a:pPr>
            <a:r>
              <a:rPr dirty="0"/>
              <a:t>ANSI/AAMI ST79 &amp; TIR30: Comprehensive guide to steam sterilization and sterility assurance in health care facilities. Establishing &lt; 6.4 </a:t>
            </a:r>
            <a:r>
              <a:rPr dirty="0" err="1"/>
              <a:t>μg</a:t>
            </a:r>
            <a:r>
              <a:rPr dirty="0"/>
              <a:t>/cm² residual protein benchmarks. — https://www.aami.org/</a:t>
            </a:r>
          </a:p>
        </p:txBody>
      </p:sp>
      <p:sp>
        <p:nvSpPr>
          <p:cNvPr id="17" name="Rounded Rectangle 16"/>
          <p:cNvSpPr/>
          <p:nvPr/>
        </p:nvSpPr>
        <p:spPr>
          <a:xfrm>
            <a:off x="685800" y="4754880"/>
            <a:ext cx="10835640" cy="1554480"/>
          </a:xfrm>
          <a:prstGeom prst="roundRect">
            <a:avLst/>
          </a:prstGeom>
          <a:solidFill>
            <a:srgbClr val="281E0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910328"/>
            <a:ext cx="10378440" cy="274320"/>
          </a:xfrm>
          <a:prstGeom prst="rect">
            <a:avLst/>
          </a:prstGeom>
          <a:noFill/>
        </p:spPr>
        <p:txBody>
          <a:bodyPr wrap="square" lIns="45720" rIns="45720" anchor="t">
            <a:spAutoFit/>
          </a:bodyPr>
          <a:lstStyle/>
          <a:p>
            <a:pPr>
              <a:defRPr sz="1100" b="1">
                <a:solidFill>
                  <a:srgbClr val="F59E0B"/>
                </a:solidFill>
                <a:latin typeface="Segoe UI"/>
              </a:defRPr>
            </a:pPr>
            <a:r>
              <a:rPr dirty="0"/>
              <a:t>⚠ MANDATORY CLINICAL &amp; SAFETY DISCLAIMER FOR JUDGES AND FACULTY</a:t>
            </a:r>
          </a:p>
        </p:txBody>
      </p:sp>
      <p:sp>
        <p:nvSpPr>
          <p:cNvPr id="19" name="TextBox 18"/>
          <p:cNvSpPr txBox="1"/>
          <p:nvPr/>
        </p:nvSpPr>
        <p:spPr>
          <a:xfrm>
            <a:off x="906780" y="5216652"/>
            <a:ext cx="10378440" cy="1051560"/>
          </a:xfrm>
          <a:prstGeom prst="rect">
            <a:avLst/>
          </a:prstGeom>
          <a:noFill/>
        </p:spPr>
        <p:txBody>
          <a:bodyPr wrap="square" lIns="45720" rIns="45720" anchor="t">
            <a:spAutoFit/>
          </a:bodyPr>
          <a:lstStyle/>
          <a:p>
            <a:pPr>
              <a:defRPr sz="1000" b="0">
                <a:solidFill>
                  <a:srgbClr val="FDE68A"/>
                </a:solidFill>
                <a:latin typeface="Segoe UI"/>
              </a:defRPr>
            </a:pPr>
            <a:r>
              <a:rPr dirty="0"/>
              <a:t>• </a:t>
            </a:r>
            <a:r>
              <a:rPr dirty="0" err="1"/>
              <a:t>BloodTrace</a:t>
            </a:r>
            <a:r>
              <a:rPr dirty="0"/>
              <a:t>™ is an engineering research proof-of-concept simulation and prototype. It is NOT an FDA-cleared in-vitro diagnostic device.</a:t>
            </a:r>
          </a:p>
          <a:p>
            <a:pPr>
              <a:defRPr sz="1000" b="0">
                <a:solidFill>
                  <a:srgbClr val="FDE68A"/>
                </a:solidFill>
                <a:latin typeface="Segoe UI"/>
              </a:defRPr>
            </a:pPr>
            <a:r>
              <a:rPr dirty="0"/>
              <a:t>• The system provides exploratory optical screening to identify candidate areas that warrant human inspection and re-cleaning. It does not replace validated chemical/thermal cleaning, disinfection, or terminal autoclaving.</a:t>
            </a:r>
          </a:p>
          <a:p>
            <a:pPr>
              <a:defRPr sz="1000" b="0">
                <a:solidFill>
                  <a:srgbClr val="FDE68A"/>
                </a:solidFill>
                <a:latin typeface="Segoe UI"/>
              </a:defRPr>
            </a:pPr>
            <a:r>
              <a:rPr dirty="0"/>
              <a:t>• Results are reported strictly as 'Candidate Residue' or 'Suspected Contamination'. An absence of optical contrast does not prove chemical cleanliness, biological sterility, or instrument safety for patient surgical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2301</Words>
  <Application>Microsoft Office PowerPoint</Application>
  <PresentationFormat>Widescreen</PresentationFormat>
  <Paragraphs>204</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BloodTrace™ — Dual-Wavelength Optical Contamination Screening Presentation</dc:title>
  <dc:subject>College Engineering Project Presentation for Faculty &amp; Investors</dc:subject>
  <dc:creator>Devansh Lila, MNIT Jaipur</dc:creator>
  <cp:keywords>BloodTrace, surgical instruments, bioburden, optical screening, Arduino, computer vision</cp:keywords>
  <dc:description>generated using python-pptx</dc:description>
  <cp:lastModifiedBy>Devansh Lila</cp:lastModifiedBy>
  <cp:revision>1</cp:revision>
  <dcterms:created xsi:type="dcterms:W3CDTF">2013-01-27T09:14:16Z</dcterms:created>
  <dcterms:modified xsi:type="dcterms:W3CDTF">2026-10-18T09:28:38Z</dcterms:modified>
  <cp:category/>
</cp:coreProperties>
</file>